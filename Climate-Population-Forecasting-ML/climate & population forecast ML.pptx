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9" r:id="rId5"/>
    <p:sldId id="270" r:id="rId6"/>
    <p:sldId id="271" r:id="rId7"/>
    <p:sldId id="257" r:id="rId8"/>
    <p:sldId id="258" r:id="rId9"/>
    <p:sldId id="261" r:id="rId10"/>
    <p:sldId id="262" r:id="rId11"/>
    <p:sldId id="265" r:id="rId12"/>
    <p:sldId id="267" r:id="rId13"/>
    <p:sldId id="268" r:id="rId14"/>
    <p:sldId id="275" r:id="rId15"/>
    <p:sldId id="276" r:id="rId16"/>
    <p:sldId id="273" r:id="rId17"/>
    <p:sldId id="277" r:id="rId18"/>
    <p:sldId id="278" r:id="rId19"/>
    <p:sldId id="279" r:id="rId20"/>
    <p:sldId id="280" r:id="rId21"/>
    <p:sldId id="281" r:id="rId22"/>
    <p:sldId id="282"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67604-F583-C48C-C4DD-51ED80B253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BC1463-5D52-9898-B0F3-55AA72E517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8A86F1D-B801-9EB4-51B5-F6F21F8FF053}"/>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5" name="Footer Placeholder 4">
            <a:extLst>
              <a:ext uri="{FF2B5EF4-FFF2-40B4-BE49-F238E27FC236}">
                <a16:creationId xmlns:a16="http://schemas.microsoft.com/office/drawing/2014/main" id="{2C856A2A-7C53-A42B-62C9-7C5B593480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01405B-F185-363A-D4FE-F5DD02947F97}"/>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163269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DC7C6-6AC1-4880-A29E-966942E8AD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FA81E9-1400-800E-3954-AD8567E290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376968-D446-0635-2AC5-6D03F88A8056}"/>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5" name="Footer Placeholder 4">
            <a:extLst>
              <a:ext uri="{FF2B5EF4-FFF2-40B4-BE49-F238E27FC236}">
                <a16:creationId xmlns:a16="http://schemas.microsoft.com/office/drawing/2014/main" id="{0F8405A5-5DBD-48C5-9828-B1DF705853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F6A54D-D1A5-DCA3-0F43-0E7E9484BF9B}"/>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723532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2AD79-3FE5-C15C-8DDA-90C232942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D10AA2-D95B-3087-07E9-28F3542DEC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672832-B18F-7817-7103-05B8293678E9}"/>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5" name="Footer Placeholder 4">
            <a:extLst>
              <a:ext uri="{FF2B5EF4-FFF2-40B4-BE49-F238E27FC236}">
                <a16:creationId xmlns:a16="http://schemas.microsoft.com/office/drawing/2014/main" id="{6F29A299-F211-3611-DBAE-92663BC3D5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92427E-9C6A-0731-85B3-0BFED8BEB762}"/>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1150482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1B9E8-9590-0510-E5B4-690E5DF465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35D3B7-91C4-E3BA-4106-BC017EF89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4EAE73-2191-5E8D-0CE5-78AA327417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AB1D27-D20B-B9D3-4621-B2B7185F2CEC}"/>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6" name="Footer Placeholder 5">
            <a:extLst>
              <a:ext uri="{FF2B5EF4-FFF2-40B4-BE49-F238E27FC236}">
                <a16:creationId xmlns:a16="http://schemas.microsoft.com/office/drawing/2014/main" id="{D4840AFF-8C34-6983-AAA8-08E128F75E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0B8D4E-F503-76FE-3E2D-4EC69F821DCD}"/>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3755126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24B0F-F19A-FAE8-B85F-21A1B433E3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CADB5A-506B-D122-9299-FFEFF79848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B1AEC7-0AD6-20D3-1234-1A248B4627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766E96-37F3-2381-087E-B2B4C4AF39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307D7-A80D-DF7D-7953-920553D354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7C8C89-2477-D928-ACCC-8576116EC638}"/>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8" name="Footer Placeholder 7">
            <a:extLst>
              <a:ext uri="{FF2B5EF4-FFF2-40B4-BE49-F238E27FC236}">
                <a16:creationId xmlns:a16="http://schemas.microsoft.com/office/drawing/2014/main" id="{3ACAA65C-AA37-E3F9-8427-2ADDCEEDEF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F720EA-BFA6-7A51-94BB-5D8CB8D28ABE}"/>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4079877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8DB1C-F3A4-7BDB-0BA6-64D38D5CF1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EB7BB1-85B7-E2A7-F34A-9B036433974F}"/>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4" name="Footer Placeholder 3">
            <a:extLst>
              <a:ext uri="{FF2B5EF4-FFF2-40B4-BE49-F238E27FC236}">
                <a16:creationId xmlns:a16="http://schemas.microsoft.com/office/drawing/2014/main" id="{7F178336-722A-16C4-6E99-AA94F46146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EE2FDD-9F39-7FDE-FBEC-BDC7D71C2694}"/>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3152526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F54A98-5760-AB47-7805-D150D252417A}"/>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3" name="Footer Placeholder 2">
            <a:extLst>
              <a:ext uri="{FF2B5EF4-FFF2-40B4-BE49-F238E27FC236}">
                <a16:creationId xmlns:a16="http://schemas.microsoft.com/office/drawing/2014/main" id="{E3398BF4-12FD-3988-58BC-84AEE7AD82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9456D9-3CAA-0E1E-52CB-EB4571DD500A}"/>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1704001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72F90-4686-A2AA-E8A9-E81666F4DA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B874E34-AF18-E8B2-1D2E-7DE1A0A336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5D333A-D594-619D-2D41-C531A9986F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DA650D-4C64-5918-F328-9C7A477C2FDE}"/>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6" name="Footer Placeholder 5">
            <a:extLst>
              <a:ext uri="{FF2B5EF4-FFF2-40B4-BE49-F238E27FC236}">
                <a16:creationId xmlns:a16="http://schemas.microsoft.com/office/drawing/2014/main" id="{F5AF8403-9A70-BE01-ED56-0C88FB4E9B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1B7087-0ABA-0E2C-814B-B37DC09EFC44}"/>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314802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78ED6-9C9D-D4E5-9EF5-8A2958120A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A3F4DB-701D-EE94-852E-4F4E9F3CEA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0117DA-99B2-3DAF-3A76-40C34C1C18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D5737-D36E-0609-0BE5-A6C4C07784C5}"/>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6" name="Footer Placeholder 5">
            <a:extLst>
              <a:ext uri="{FF2B5EF4-FFF2-40B4-BE49-F238E27FC236}">
                <a16:creationId xmlns:a16="http://schemas.microsoft.com/office/drawing/2014/main" id="{7C1BCF70-F291-62F7-52C1-E7812127D1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D7A60F-614D-0B35-05C2-8441EEAF6C88}"/>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1007077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B20-4CA8-54D0-9BAC-E174AB305C1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577F74-76EC-0811-7C12-F59E2D4377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FD5198-7254-0787-419F-93000CE155DB}"/>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5" name="Footer Placeholder 4">
            <a:extLst>
              <a:ext uri="{FF2B5EF4-FFF2-40B4-BE49-F238E27FC236}">
                <a16:creationId xmlns:a16="http://schemas.microsoft.com/office/drawing/2014/main" id="{9387E97B-0428-31E7-243F-CB29E90DF6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479F27-8441-1CBA-0370-7C741FA5DED9}"/>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2612061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F2DD23-1B2E-DE85-968C-5BD6ECC06E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0DB488-122F-0BA2-401E-B0B2F2A2B1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8B582B-CEC0-4C41-9C90-530C64A2C43E}"/>
              </a:ext>
            </a:extLst>
          </p:cNvPr>
          <p:cNvSpPr>
            <a:spLocks noGrp="1"/>
          </p:cNvSpPr>
          <p:nvPr>
            <p:ph type="dt" sz="half" idx="10"/>
          </p:nvPr>
        </p:nvSpPr>
        <p:spPr/>
        <p:txBody>
          <a:bodyPr/>
          <a:lstStyle/>
          <a:p>
            <a:fld id="{48E8888C-0C7E-4A27-9A9E-2B4F1328920A}" type="datetimeFigureOut">
              <a:rPr lang="en-IN" smtClean="0"/>
              <a:t>07-05-2026</a:t>
            </a:fld>
            <a:endParaRPr lang="en-IN"/>
          </a:p>
        </p:txBody>
      </p:sp>
      <p:sp>
        <p:nvSpPr>
          <p:cNvPr id="5" name="Footer Placeholder 4">
            <a:extLst>
              <a:ext uri="{FF2B5EF4-FFF2-40B4-BE49-F238E27FC236}">
                <a16:creationId xmlns:a16="http://schemas.microsoft.com/office/drawing/2014/main" id="{C41C543D-61D2-C1AD-8BD2-76DC13EF8F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86026E-58A1-726D-FC57-9E891E8EF66D}"/>
              </a:ext>
            </a:extLst>
          </p:cNvPr>
          <p:cNvSpPr>
            <a:spLocks noGrp="1"/>
          </p:cNvSpPr>
          <p:nvPr>
            <p:ph type="sldNum" sz="quarter" idx="12"/>
          </p:nvPr>
        </p:nvSpPr>
        <p:spPr/>
        <p:txBody>
          <a:bodyPr/>
          <a:lstStyle/>
          <a:p>
            <a:fld id="{35BBDE45-7B54-4903-B3DA-E4603C50BC1E}" type="slidenum">
              <a:rPr lang="en-IN" smtClean="0"/>
              <a:t>‹#›</a:t>
            </a:fld>
            <a:endParaRPr lang="en-IN"/>
          </a:p>
        </p:txBody>
      </p:sp>
    </p:spTree>
    <p:extLst>
      <p:ext uri="{BB962C8B-B14F-4D97-AF65-F5344CB8AC3E}">
        <p14:creationId xmlns:p14="http://schemas.microsoft.com/office/powerpoint/2010/main" val="676024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8C647-4941-3D94-8213-C013D3EB27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38F71B-21D5-C71C-D02E-5E555CBE54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ED750E-5DE9-EE44-0325-9264DCCA0A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E8888C-0C7E-4A27-9A9E-2B4F1328920A}" type="datetimeFigureOut">
              <a:rPr lang="en-IN" smtClean="0"/>
              <a:t>07-05-2026</a:t>
            </a:fld>
            <a:endParaRPr lang="en-IN"/>
          </a:p>
        </p:txBody>
      </p:sp>
      <p:sp>
        <p:nvSpPr>
          <p:cNvPr id="5" name="Footer Placeholder 4">
            <a:extLst>
              <a:ext uri="{FF2B5EF4-FFF2-40B4-BE49-F238E27FC236}">
                <a16:creationId xmlns:a16="http://schemas.microsoft.com/office/drawing/2014/main" id="{DAF1E55E-D3C5-F049-6625-0FB927827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FC0817C-BDFB-60EB-3E93-8431ECFD87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BBDE45-7B54-4903-B3DA-E4603C50BC1E}" type="slidenum">
              <a:rPr lang="en-IN" smtClean="0"/>
              <a:t>‹#›</a:t>
            </a:fld>
            <a:endParaRPr lang="en-IN"/>
          </a:p>
        </p:txBody>
      </p:sp>
    </p:spTree>
    <p:extLst>
      <p:ext uri="{BB962C8B-B14F-4D97-AF65-F5344CB8AC3E}">
        <p14:creationId xmlns:p14="http://schemas.microsoft.com/office/powerpoint/2010/main" val="3672996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link.springer.com/article/10.1007/s00704-023-04571-5" TargetMode="External"/><Relationship Id="rId7" Type="http://schemas.openxmlformats.org/officeDocument/2006/relationships/hyperlink" Target="https://docs.python.org/3/" TargetMode="External"/><Relationship Id="rId2" Type="http://schemas.openxmlformats.org/officeDocument/2006/relationships/hyperlink" Target="https://www.sciencedirect.com/science/article/pii/S259019742400048X" TargetMode="External"/><Relationship Id="rId1" Type="http://schemas.openxmlformats.org/officeDocument/2006/relationships/slideLayout" Target="../slideLayouts/slideLayout2.xml"/><Relationship Id="rId6" Type="http://schemas.openxmlformats.org/officeDocument/2006/relationships/hyperlink" Target="https://www.kaggle.com/datasets" TargetMode="External"/><Relationship Id="rId5" Type="http://schemas.openxmlformats.org/officeDocument/2006/relationships/hyperlink" Target="https://scikit-learn.org/stable/" TargetMode="External"/><Relationship Id="rId4" Type="http://schemas.openxmlformats.org/officeDocument/2006/relationships/hyperlink" Target="https://www.un.org/development/desa/pd/world-population-prospects-202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33E9C-75E8-6ABB-C002-C1B22F1CA11D}"/>
              </a:ext>
            </a:extLst>
          </p:cNvPr>
          <p:cNvSpPr>
            <a:spLocks noGrp="1"/>
          </p:cNvSpPr>
          <p:nvPr>
            <p:ph type="ctrTitle"/>
          </p:nvPr>
        </p:nvSpPr>
        <p:spPr>
          <a:xfrm>
            <a:off x="186813" y="44244"/>
            <a:ext cx="11061290" cy="2433486"/>
          </a:xfrm>
        </p:spPr>
        <p:txBody>
          <a:bodyPr>
            <a:normAutofit fontScale="90000"/>
          </a:bodyPr>
          <a:lstStyle/>
          <a:p>
            <a:r>
              <a:rPr lang="en-IN" sz="4800" dirty="0">
                <a:solidFill>
                  <a:srgbClr val="FF0000"/>
                </a:solidFill>
                <a:latin typeface="Times New Roman" panose="02020603050405020304" pitchFamily="18" charset="0"/>
                <a:cs typeface="Times New Roman" panose="02020603050405020304" pitchFamily="18" charset="0"/>
              </a:rPr>
              <a:t>PROJECT TITLE :</a:t>
            </a:r>
            <a:br>
              <a:rPr lang="en-IN" sz="4800" dirty="0">
                <a:latin typeface="Times New Roman" panose="02020603050405020304" pitchFamily="18" charset="0"/>
                <a:cs typeface="Times New Roman" panose="02020603050405020304" pitchFamily="18" charset="0"/>
              </a:rPr>
            </a:br>
            <a:r>
              <a:rPr lang="en-IN" sz="4800" dirty="0">
                <a:latin typeface="Times New Roman" panose="02020603050405020304" pitchFamily="18" charset="0"/>
                <a:cs typeface="Times New Roman" panose="02020603050405020304" pitchFamily="18" charset="0"/>
              </a:rPr>
              <a:t>PREDICTING EARTH’S FUTURE:CLIMATE &amp; POPULATION FORECASTING USING MACHINE LEARNING</a:t>
            </a:r>
          </a:p>
        </p:txBody>
      </p:sp>
      <p:sp>
        <p:nvSpPr>
          <p:cNvPr id="3" name="Subtitle 2">
            <a:extLst>
              <a:ext uri="{FF2B5EF4-FFF2-40B4-BE49-F238E27FC236}">
                <a16:creationId xmlns:a16="http://schemas.microsoft.com/office/drawing/2014/main" id="{480A5FE1-B630-7F1B-7C33-CE7FE99C5763}"/>
              </a:ext>
            </a:extLst>
          </p:cNvPr>
          <p:cNvSpPr>
            <a:spLocks noGrp="1"/>
          </p:cNvSpPr>
          <p:nvPr>
            <p:ph type="subTitle" idx="1"/>
          </p:nvPr>
        </p:nvSpPr>
        <p:spPr>
          <a:xfrm>
            <a:off x="344129" y="2930014"/>
            <a:ext cx="11336593" cy="3431458"/>
          </a:xfrm>
        </p:spPr>
        <p:txBody>
          <a:bodyPr>
            <a:normAutofit/>
          </a:bodyPr>
          <a:lstStyle/>
          <a:p>
            <a:r>
              <a:rPr lang="en-IN" sz="3200" dirty="0">
                <a:solidFill>
                  <a:schemeClr val="tx1">
                    <a:lumMod val="95000"/>
                    <a:lumOff val="5000"/>
                  </a:schemeClr>
                </a:solidFill>
                <a:latin typeface="Times New Roman" panose="02020603050405020304" pitchFamily="18" charset="0"/>
                <a:cs typeface="Times New Roman" panose="02020603050405020304" pitchFamily="18" charset="0"/>
              </a:rPr>
              <a:t>PROJECT OBJECTIVES:</a:t>
            </a:r>
          </a:p>
          <a:p>
            <a:endParaRPr lang="en-IN" sz="11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v"/>
            </a:pPr>
            <a:r>
              <a:rPr lang="en-IN" sz="2800" dirty="0">
                <a:solidFill>
                  <a:schemeClr val="tx1">
                    <a:lumMod val="95000"/>
                    <a:lumOff val="5000"/>
                  </a:schemeClr>
                </a:solidFill>
                <a:latin typeface="Times New Roman" panose="02020603050405020304" pitchFamily="18" charset="0"/>
                <a:cs typeface="Times New Roman" panose="02020603050405020304" pitchFamily="18" charset="0"/>
              </a:rPr>
              <a:t> Forecast global temperature and population trends using ML</a:t>
            </a:r>
          </a:p>
          <a:p>
            <a:pPr marL="457200" indent="-457200" algn="l">
              <a:buFont typeface="Wingdings" panose="05000000000000000000" pitchFamily="2" charset="2"/>
              <a:buChar char="v"/>
            </a:pPr>
            <a:r>
              <a:rPr lang="en-IN" sz="2800" dirty="0">
                <a:solidFill>
                  <a:schemeClr val="tx1">
                    <a:lumMod val="95000"/>
                    <a:lumOff val="5000"/>
                  </a:schemeClr>
                </a:solidFill>
                <a:latin typeface="Times New Roman" panose="02020603050405020304" pitchFamily="18" charset="0"/>
                <a:cs typeface="Times New Roman" panose="02020603050405020304" pitchFamily="18" charset="0"/>
              </a:rPr>
              <a:t>Use historical data and train regression models.</a:t>
            </a:r>
            <a:endParaRPr kumimoji="0" lang="en-IN" sz="28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endParaRPr>
          </a:p>
          <a:p>
            <a:pPr marL="457200" marR="0" lvl="0" indent="-457200" algn="l" defTabSz="914400" rtl="0" eaLnBrk="1" fontAlgn="auto" latinLnBrk="0" hangingPunct="1">
              <a:lnSpc>
                <a:spcPct val="90000"/>
              </a:lnSpc>
              <a:spcBef>
                <a:spcPts val="1000"/>
              </a:spcBef>
              <a:spcAft>
                <a:spcPts val="0"/>
              </a:spcAft>
              <a:buClrTx/>
              <a:buSzTx/>
              <a:buFont typeface="Wingdings" panose="05000000000000000000" pitchFamily="2" charset="2"/>
              <a:buChar char="v"/>
              <a:tabLst/>
              <a:defRPr/>
            </a:pPr>
            <a:r>
              <a:rPr kumimoji="0" lang="en-IN" sz="28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 Visualize future projections for years like 2030, 2040 and 2050.</a:t>
            </a:r>
          </a:p>
          <a:p>
            <a:pPr marL="457200" marR="0" lvl="0" indent="-457200" algn="l" defTabSz="914400" rtl="0" eaLnBrk="1" fontAlgn="auto" latinLnBrk="0" hangingPunct="1">
              <a:lnSpc>
                <a:spcPct val="90000"/>
              </a:lnSpc>
              <a:spcBef>
                <a:spcPts val="1000"/>
              </a:spcBef>
              <a:spcAft>
                <a:spcPts val="0"/>
              </a:spcAft>
              <a:buClrTx/>
              <a:buSzTx/>
              <a:buFont typeface="Wingdings" panose="05000000000000000000" pitchFamily="2" charset="2"/>
              <a:buChar char="v"/>
              <a:tabLst/>
              <a:defRPr/>
            </a:pPr>
            <a:r>
              <a:rPr kumimoji="0" lang="en-IN" sz="28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Present clear and meaningful insights from the predictions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691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255DE-ACB5-2740-2354-790FF98B2DD8}"/>
              </a:ext>
            </a:extLst>
          </p:cNvPr>
          <p:cNvSpPr>
            <a:spLocks noGrp="1"/>
          </p:cNvSpPr>
          <p:nvPr>
            <p:ph type="title"/>
          </p:nvPr>
        </p:nvSpPr>
        <p:spPr>
          <a:xfrm>
            <a:off x="838200" y="204838"/>
            <a:ext cx="10515600" cy="952398"/>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E12D4B-0313-7292-8584-48A82801DBD2}"/>
              </a:ext>
            </a:extLst>
          </p:cNvPr>
          <p:cNvSpPr>
            <a:spLocks noGrp="1"/>
          </p:cNvSpPr>
          <p:nvPr>
            <p:ph idx="1"/>
          </p:nvPr>
        </p:nvSpPr>
        <p:spPr>
          <a:xfrm>
            <a:off x="838200" y="1157236"/>
            <a:ext cx="10744200" cy="5391048"/>
          </a:xfrm>
        </p:spPr>
        <p:txBody>
          <a:bodyPr>
            <a:norm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Climate change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rapid population growth </a:t>
            </a:r>
            <a:r>
              <a:rPr lang="en-US" dirty="0">
                <a:latin typeface="Times New Roman" panose="02020603050405020304" pitchFamily="18" charset="0"/>
                <a:cs typeface="Times New Roman" panose="02020603050405020304" pitchFamily="18" charset="0"/>
              </a:rPr>
              <a:t>are two major global challenges affecting environmental sustainability and human life.</a:t>
            </a:r>
          </a:p>
          <a:p>
            <a:r>
              <a:rPr lang="en-US" dirty="0">
                <a:latin typeface="Times New Roman" panose="02020603050405020304" pitchFamily="18" charset="0"/>
                <a:cs typeface="Times New Roman" panose="02020603050405020304" pitchFamily="18" charset="0"/>
              </a:rPr>
              <a:t>Machine Learning provides </a:t>
            </a:r>
            <a:r>
              <a:rPr lang="en-US" b="1" dirty="0">
                <a:latin typeface="Times New Roman" panose="02020603050405020304" pitchFamily="18" charset="0"/>
                <a:cs typeface="Times New Roman" panose="02020603050405020304" pitchFamily="18" charset="0"/>
              </a:rPr>
              <a:t>intelligent techniques to analyze historical environmental and demographic data </a:t>
            </a:r>
            <a:r>
              <a:rPr lang="en-US" dirty="0">
                <a:latin typeface="Times New Roman" panose="02020603050405020304" pitchFamily="18" charset="0"/>
                <a:cs typeface="Times New Roman" panose="02020603050405020304" pitchFamily="18" charset="0"/>
              </a:rPr>
              <a:t>to predict future climate conditions and population trends.</a:t>
            </a:r>
          </a:p>
          <a:p>
            <a:r>
              <a:rPr lang="en-US" dirty="0">
                <a:latin typeface="Times New Roman" panose="02020603050405020304" pitchFamily="18" charset="0"/>
                <a:cs typeface="Times New Roman" panose="02020603050405020304" pitchFamily="18" charset="0"/>
              </a:rPr>
              <a:t>This project focuses on:</a:t>
            </a:r>
          </a:p>
          <a:p>
            <a:r>
              <a:rPr lang="en-US" dirty="0">
                <a:latin typeface="Times New Roman" panose="02020603050405020304" pitchFamily="18" charset="0"/>
                <a:cs typeface="Times New Roman" panose="02020603050405020304" pitchFamily="18" charset="0"/>
              </a:rPr>
              <a:t>Predicting future climate changes </a:t>
            </a:r>
          </a:p>
          <a:p>
            <a:r>
              <a:rPr lang="en-US" dirty="0">
                <a:latin typeface="Times New Roman" panose="02020603050405020304" pitchFamily="18" charset="0"/>
                <a:cs typeface="Times New Roman" panose="02020603050405020304" pitchFamily="18" charset="0"/>
              </a:rPr>
              <a:t>Forecasting population growth </a:t>
            </a:r>
          </a:p>
          <a:p>
            <a:r>
              <a:rPr lang="en-US" dirty="0">
                <a:latin typeface="Times New Roman" panose="02020603050405020304" pitchFamily="18" charset="0"/>
                <a:cs typeface="Times New Roman" panose="02020603050405020304" pitchFamily="18" charset="0"/>
              </a:rPr>
              <a:t>Understanding environmental impacts </a:t>
            </a:r>
          </a:p>
          <a:p>
            <a:r>
              <a:rPr lang="en-US" dirty="0">
                <a:latin typeface="Times New Roman" panose="02020603050405020304" pitchFamily="18" charset="0"/>
                <a:cs typeface="Times New Roman" panose="02020603050405020304" pitchFamily="18" charset="0"/>
              </a:rPr>
              <a:t>Supporting sustainable development planning</a:t>
            </a:r>
          </a:p>
          <a:p>
            <a:endParaRPr lang="en-IN" dirty="0"/>
          </a:p>
        </p:txBody>
      </p:sp>
    </p:spTree>
    <p:extLst>
      <p:ext uri="{BB962C8B-B14F-4D97-AF65-F5344CB8AC3E}">
        <p14:creationId xmlns:p14="http://schemas.microsoft.com/office/powerpoint/2010/main" val="1316417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A1BA-B1AB-C8F6-BD51-F79881586930}"/>
              </a:ext>
            </a:extLst>
          </p:cNvPr>
          <p:cNvSpPr>
            <a:spLocks noGrp="1"/>
          </p:cNvSpPr>
          <p:nvPr>
            <p:ph type="title"/>
          </p:nvPr>
        </p:nvSpPr>
        <p:spPr>
          <a:xfrm>
            <a:off x="838200" y="365126"/>
            <a:ext cx="10515600" cy="67709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790686-824C-48C1-7BCE-63CD84D1F312}"/>
              </a:ext>
            </a:extLst>
          </p:cNvPr>
          <p:cNvSpPr>
            <a:spLocks noGrp="1"/>
          </p:cNvSpPr>
          <p:nvPr>
            <p:ph idx="1"/>
          </p:nvPr>
        </p:nvSpPr>
        <p:spPr>
          <a:xfrm>
            <a:off x="838200" y="1042221"/>
            <a:ext cx="10515600" cy="5712540"/>
          </a:xfrm>
        </p:spPr>
        <p:txBody>
          <a:bodyPr>
            <a:normAutofit lnSpcReduction="10000"/>
          </a:bodyPr>
          <a:lstStyle/>
          <a:p>
            <a:r>
              <a:rPr lang="en-US" dirty="0">
                <a:latin typeface="Times New Roman" panose="02020603050405020304" pitchFamily="18" charset="0"/>
                <a:cs typeface="Times New Roman" panose="02020603050405020304" pitchFamily="18" charset="0"/>
              </a:rPr>
              <a:t>This project aims to develop a machine learning-based prediction system for forecasting climate and population changes using historical datasets. The system analyzes environmental factors such as temperature, CO₂ emissions, rainfall, and population statistics to identify future trends.</a:t>
            </a:r>
          </a:p>
          <a:p>
            <a:r>
              <a:rPr lang="en-US" dirty="0">
                <a:latin typeface="Times New Roman" panose="02020603050405020304" pitchFamily="18" charset="0"/>
                <a:cs typeface="Times New Roman" panose="02020603050405020304" pitchFamily="18" charset="0"/>
              </a:rPr>
              <a:t>Various machine learning algorithms including Linear Regression, Decision Tree Regression, and Random Forest Regression are used for prediction and analysis.</a:t>
            </a:r>
          </a:p>
          <a:p>
            <a:r>
              <a:rPr lang="en-US" dirty="0">
                <a:latin typeface="Times New Roman" panose="02020603050405020304" pitchFamily="18" charset="0"/>
                <a:cs typeface="Times New Roman" panose="02020603050405020304" pitchFamily="18" charset="0"/>
              </a:rPr>
              <a:t>The proposed system helps in:</a:t>
            </a:r>
          </a:p>
          <a:p>
            <a:pPr lvl="1"/>
            <a:r>
              <a:rPr lang="en-US" dirty="0">
                <a:latin typeface="Times New Roman" panose="02020603050405020304" pitchFamily="18" charset="0"/>
                <a:cs typeface="Times New Roman" panose="02020603050405020304" pitchFamily="18" charset="0"/>
              </a:rPr>
              <a:t>Understanding future climate conditions </a:t>
            </a:r>
          </a:p>
          <a:p>
            <a:pPr lvl="1"/>
            <a:r>
              <a:rPr lang="en-US" dirty="0">
                <a:latin typeface="Times New Roman" panose="02020603050405020304" pitchFamily="18" charset="0"/>
                <a:cs typeface="Times New Roman" panose="02020603050405020304" pitchFamily="18" charset="0"/>
              </a:rPr>
              <a:t>Estimating population growth </a:t>
            </a:r>
          </a:p>
          <a:p>
            <a:pPr lvl="1"/>
            <a:r>
              <a:rPr lang="en-US" dirty="0">
                <a:latin typeface="Times New Roman" panose="02020603050405020304" pitchFamily="18" charset="0"/>
                <a:cs typeface="Times New Roman" panose="02020603050405020304" pitchFamily="18" charset="0"/>
              </a:rPr>
              <a:t>Analyzing environmental impact </a:t>
            </a:r>
          </a:p>
          <a:p>
            <a:pPr lvl="1"/>
            <a:r>
              <a:rPr lang="en-US" dirty="0">
                <a:latin typeface="Times New Roman" panose="02020603050405020304" pitchFamily="18" charset="0"/>
                <a:cs typeface="Times New Roman" panose="02020603050405020304" pitchFamily="18" charset="0"/>
              </a:rPr>
              <a:t>Supporting government and research decisions </a:t>
            </a:r>
          </a:p>
          <a:p>
            <a:r>
              <a:rPr lang="en-US" dirty="0">
                <a:latin typeface="Times New Roman" panose="02020603050405020304" pitchFamily="18" charset="0"/>
                <a:cs typeface="Times New Roman" panose="02020603050405020304" pitchFamily="18" charset="0"/>
              </a:rPr>
              <a:t>The project demonstrates how AI and Machine Learning can contribute to environmental sustainability and future planning.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081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C8EF0-091C-5AB0-9EF6-4901A7ADE51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0366C047-3C2A-8338-EDD2-06F8DE850EA9}"/>
              </a:ext>
            </a:extLst>
          </p:cNvPr>
          <p:cNvSpPr>
            <a:spLocks noGrp="1"/>
          </p:cNvSpPr>
          <p:nvPr>
            <p:ph idx="1"/>
          </p:nvPr>
        </p:nvSpPr>
        <p:spPr>
          <a:xfrm>
            <a:off x="838200" y="1425677"/>
            <a:ext cx="10515600" cy="4751286"/>
          </a:xfrm>
        </p:spPr>
        <p:txBody>
          <a:bodyPr>
            <a:normAutofit fontScale="77500" lnSpcReduction="20000"/>
          </a:bodyPr>
          <a:lstStyle/>
          <a:p>
            <a:pPr>
              <a:lnSpc>
                <a:spcPct val="120000"/>
              </a:lnSpc>
            </a:pPr>
            <a:r>
              <a:rPr lang="en-US" dirty="0">
                <a:latin typeface="Times New Roman" panose="02020603050405020304" pitchFamily="18" charset="0"/>
                <a:cs typeface="Times New Roman" panose="02020603050405020304" pitchFamily="18" charset="0"/>
              </a:rPr>
              <a:t>Traditional forecasting methods are insufficient for accurately predicting future climate and population changes due to:</a:t>
            </a:r>
          </a:p>
          <a:p>
            <a:pPr lvl="1">
              <a:lnSpc>
                <a:spcPct val="120000"/>
              </a:lnSpc>
            </a:pPr>
            <a:r>
              <a:rPr lang="en-US" sz="2600" dirty="0">
                <a:latin typeface="Times New Roman" panose="02020603050405020304" pitchFamily="18" charset="0"/>
                <a:cs typeface="Times New Roman" panose="02020603050405020304" pitchFamily="18" charset="0"/>
              </a:rPr>
              <a:t>Large volumes of environmental data </a:t>
            </a:r>
          </a:p>
          <a:p>
            <a:pPr lvl="1">
              <a:lnSpc>
                <a:spcPct val="120000"/>
              </a:lnSpc>
            </a:pPr>
            <a:r>
              <a:rPr lang="en-US" sz="2600" dirty="0">
                <a:latin typeface="Times New Roman" panose="02020603050405020304" pitchFamily="18" charset="0"/>
                <a:cs typeface="Times New Roman" panose="02020603050405020304" pitchFamily="18" charset="0"/>
              </a:rPr>
              <a:t>Complex climate patterns </a:t>
            </a:r>
          </a:p>
          <a:p>
            <a:pPr lvl="1">
              <a:lnSpc>
                <a:spcPct val="120000"/>
              </a:lnSpc>
            </a:pPr>
            <a:r>
              <a:rPr lang="en-US" sz="2600" dirty="0">
                <a:latin typeface="Times New Roman" panose="02020603050405020304" pitchFamily="18" charset="0"/>
                <a:cs typeface="Times New Roman" panose="02020603050405020304" pitchFamily="18" charset="0"/>
              </a:rPr>
              <a:t>Rapid population growth </a:t>
            </a:r>
          </a:p>
          <a:p>
            <a:pPr lvl="1">
              <a:lnSpc>
                <a:spcPct val="120000"/>
              </a:lnSpc>
            </a:pPr>
            <a:r>
              <a:rPr lang="en-US" sz="2600" dirty="0">
                <a:latin typeface="Times New Roman" panose="02020603050405020304" pitchFamily="18" charset="0"/>
                <a:cs typeface="Times New Roman" panose="02020603050405020304" pitchFamily="18" charset="0"/>
              </a:rPr>
              <a:t>Increasing carbon emissions </a:t>
            </a:r>
          </a:p>
          <a:p>
            <a:pPr lvl="1">
              <a:lnSpc>
                <a:spcPct val="120000"/>
              </a:lnSpc>
            </a:pPr>
            <a:r>
              <a:rPr lang="en-US" sz="2600" dirty="0">
                <a:latin typeface="Times New Roman" panose="02020603050405020304" pitchFamily="18" charset="0"/>
                <a:cs typeface="Times New Roman" panose="02020603050405020304" pitchFamily="18" charset="0"/>
              </a:rPr>
              <a:t>Unpredictable environmental variations </a:t>
            </a:r>
          </a:p>
          <a:p>
            <a:r>
              <a:rPr lang="en-US" dirty="0">
                <a:latin typeface="Times New Roman" panose="02020603050405020304" pitchFamily="18" charset="0"/>
                <a:cs typeface="Times New Roman" panose="02020603050405020304" pitchFamily="18" charset="0"/>
              </a:rPr>
              <a:t>There is a need for an intelligent prediction system capable of:</a:t>
            </a:r>
          </a:p>
          <a:p>
            <a:pPr lvl="1">
              <a:lnSpc>
                <a:spcPct val="120000"/>
              </a:lnSpc>
            </a:pPr>
            <a:r>
              <a:rPr lang="en-US" sz="2600" dirty="0">
                <a:latin typeface="Times New Roman" panose="02020603050405020304" pitchFamily="18" charset="0"/>
                <a:cs typeface="Times New Roman" panose="02020603050405020304" pitchFamily="18" charset="0"/>
              </a:rPr>
              <a:t>Analyzing historical data efficiently </a:t>
            </a:r>
          </a:p>
          <a:p>
            <a:pPr lvl="1">
              <a:lnSpc>
                <a:spcPct val="120000"/>
              </a:lnSpc>
            </a:pPr>
            <a:r>
              <a:rPr lang="en-US" sz="2600" dirty="0">
                <a:latin typeface="Times New Roman" panose="02020603050405020304" pitchFamily="18" charset="0"/>
                <a:cs typeface="Times New Roman" panose="02020603050405020304" pitchFamily="18" charset="0"/>
              </a:rPr>
              <a:t>Predicting future climate conditions </a:t>
            </a:r>
          </a:p>
          <a:p>
            <a:pPr lvl="1">
              <a:lnSpc>
                <a:spcPct val="120000"/>
              </a:lnSpc>
            </a:pPr>
            <a:r>
              <a:rPr lang="en-US" sz="2600" dirty="0">
                <a:latin typeface="Times New Roman" panose="02020603050405020304" pitchFamily="18" charset="0"/>
                <a:cs typeface="Times New Roman" panose="02020603050405020304" pitchFamily="18" charset="0"/>
              </a:rPr>
              <a:t>Forecasting population growth accurately </a:t>
            </a:r>
          </a:p>
          <a:p>
            <a:pPr lvl="1">
              <a:lnSpc>
                <a:spcPct val="120000"/>
              </a:lnSpc>
            </a:pPr>
            <a:r>
              <a:rPr lang="en-US" sz="2600" dirty="0">
                <a:latin typeface="Times New Roman" panose="02020603050405020304" pitchFamily="18" charset="0"/>
                <a:cs typeface="Times New Roman" panose="02020603050405020304" pitchFamily="18" charset="0"/>
              </a:rPr>
              <a:t>Supporting environmental sustainability decisions</a:t>
            </a:r>
          </a:p>
          <a:p>
            <a:endParaRPr lang="en-IN" dirty="0"/>
          </a:p>
        </p:txBody>
      </p:sp>
    </p:spTree>
    <p:extLst>
      <p:ext uri="{BB962C8B-B14F-4D97-AF65-F5344CB8AC3E}">
        <p14:creationId xmlns:p14="http://schemas.microsoft.com/office/powerpoint/2010/main" val="1512326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85D1-75EF-98FC-296D-6D34E3B6029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OBJECTIVES:</a:t>
            </a:r>
            <a:endParaRPr lang="en-IN" dirty="0"/>
          </a:p>
        </p:txBody>
      </p:sp>
      <p:sp>
        <p:nvSpPr>
          <p:cNvPr id="3" name="Text Placeholder 2">
            <a:extLst>
              <a:ext uri="{FF2B5EF4-FFF2-40B4-BE49-F238E27FC236}">
                <a16:creationId xmlns:a16="http://schemas.microsoft.com/office/drawing/2014/main" id="{339EC862-DA67-A6A8-920D-E4ECE37F58A4}"/>
              </a:ext>
            </a:extLst>
          </p:cNvPr>
          <p:cNvSpPr>
            <a:spLocks noGrp="1"/>
          </p:cNvSpPr>
          <p:nvPr>
            <p:ph type="body" idx="1"/>
          </p:nvPr>
        </p:nvSpPr>
        <p:spPr>
          <a:xfrm>
            <a:off x="751298" y="1569090"/>
            <a:ext cx="5157787" cy="528791"/>
          </a:xfrm>
        </p:spPr>
        <p:txBody>
          <a:bodyPr>
            <a:normAutofit/>
          </a:bodyPr>
          <a:lstStyle/>
          <a:p>
            <a:pPr algn="ctr"/>
            <a:r>
              <a:rPr lang="en-US" dirty="0">
                <a:latin typeface="Times New Roman" panose="02020603050405020304" pitchFamily="18" charset="0"/>
                <a:cs typeface="Times New Roman" panose="02020603050405020304" pitchFamily="18" charset="0"/>
              </a:rPr>
              <a:t>Main Objectives:</a:t>
            </a:r>
          </a:p>
        </p:txBody>
      </p:sp>
      <p:sp>
        <p:nvSpPr>
          <p:cNvPr id="4" name="Content Placeholder 3">
            <a:extLst>
              <a:ext uri="{FF2B5EF4-FFF2-40B4-BE49-F238E27FC236}">
                <a16:creationId xmlns:a16="http://schemas.microsoft.com/office/drawing/2014/main" id="{44E530EB-596A-8378-C19D-2B1E6E1937E9}"/>
              </a:ext>
            </a:extLst>
          </p:cNvPr>
          <p:cNvSpPr>
            <a:spLocks noGrp="1"/>
          </p:cNvSpPr>
          <p:nvPr>
            <p:ph sz="half" idx="2"/>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To analyze climate and population datasets </a:t>
            </a:r>
          </a:p>
          <a:p>
            <a:r>
              <a:rPr lang="en-US" dirty="0">
                <a:latin typeface="Times New Roman" panose="02020603050405020304" pitchFamily="18" charset="0"/>
                <a:cs typeface="Times New Roman" panose="02020603050405020304" pitchFamily="18" charset="0"/>
              </a:rPr>
              <a:t>To build a machine learning prediction model </a:t>
            </a:r>
          </a:p>
          <a:p>
            <a:r>
              <a:rPr lang="en-US" dirty="0">
                <a:latin typeface="Times New Roman" panose="02020603050405020304" pitchFamily="18" charset="0"/>
                <a:cs typeface="Times New Roman" panose="02020603050405020304" pitchFamily="18" charset="0"/>
              </a:rPr>
              <a:t>To forecast future climate conditions </a:t>
            </a:r>
          </a:p>
          <a:p>
            <a:r>
              <a:rPr lang="en-US" dirty="0">
                <a:latin typeface="Times New Roman" panose="02020603050405020304" pitchFamily="18" charset="0"/>
                <a:cs typeface="Times New Roman" panose="02020603050405020304" pitchFamily="18" charset="0"/>
              </a:rPr>
              <a:t>To estimate future population growth </a:t>
            </a:r>
          </a:p>
          <a:p>
            <a:r>
              <a:rPr lang="en-US" dirty="0">
                <a:latin typeface="Times New Roman" panose="02020603050405020304" pitchFamily="18" charset="0"/>
                <a:cs typeface="Times New Roman" panose="02020603050405020304" pitchFamily="18" charset="0"/>
              </a:rPr>
              <a:t>To visualize environmental trends </a:t>
            </a:r>
          </a:p>
          <a:p>
            <a:endParaRPr lang="en-IN" dirty="0"/>
          </a:p>
        </p:txBody>
      </p:sp>
      <p:sp>
        <p:nvSpPr>
          <p:cNvPr id="5" name="Text Placeholder 4">
            <a:extLst>
              <a:ext uri="{FF2B5EF4-FFF2-40B4-BE49-F238E27FC236}">
                <a16:creationId xmlns:a16="http://schemas.microsoft.com/office/drawing/2014/main" id="{57174F75-B77E-1586-E57B-2F27702ACF19}"/>
              </a:ext>
            </a:extLst>
          </p:cNvPr>
          <p:cNvSpPr>
            <a:spLocks noGrp="1"/>
          </p:cNvSpPr>
          <p:nvPr>
            <p:ph type="body" sz="quarter" idx="3"/>
          </p:nvPr>
        </p:nvSpPr>
        <p:spPr>
          <a:xfrm>
            <a:off x="6169024" y="1569090"/>
            <a:ext cx="5183188" cy="528792"/>
          </a:xfrm>
        </p:spPr>
        <p:txBody>
          <a:bodyPr>
            <a:normAutofit/>
          </a:bodyPr>
          <a:lstStyle/>
          <a:p>
            <a:r>
              <a:rPr lang="en-US" dirty="0">
                <a:latin typeface="Times New Roman" panose="02020603050405020304" pitchFamily="18" charset="0"/>
                <a:cs typeface="Times New Roman" panose="02020603050405020304" pitchFamily="18" charset="0"/>
              </a:rPr>
              <a:t>Additional Objectives</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A471CE80-7AB3-E820-61CE-2967134D0FA8}"/>
              </a:ext>
            </a:extLst>
          </p:cNvPr>
          <p:cNvSpPr>
            <a:spLocks noGrp="1"/>
          </p:cNvSpPr>
          <p:nvPr>
            <p:ph sz="quarter" idx="4"/>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Improve prediction accuracy </a:t>
            </a:r>
          </a:p>
          <a:p>
            <a:r>
              <a:rPr lang="en-US" dirty="0">
                <a:latin typeface="Times New Roman" panose="02020603050405020304" pitchFamily="18" charset="0"/>
                <a:cs typeface="Times New Roman" panose="02020603050405020304" pitchFamily="18" charset="0"/>
              </a:rPr>
              <a:t>Compare ML algorithms </a:t>
            </a:r>
          </a:p>
          <a:p>
            <a:r>
              <a:rPr lang="en-US" dirty="0">
                <a:latin typeface="Times New Roman" panose="02020603050405020304" pitchFamily="18" charset="0"/>
                <a:cs typeface="Times New Roman" panose="02020603050405020304" pitchFamily="18" charset="0"/>
              </a:rPr>
              <a:t>Generate analytical graphs and reports</a:t>
            </a:r>
          </a:p>
          <a:p>
            <a:endParaRPr lang="en-IN" dirty="0"/>
          </a:p>
        </p:txBody>
      </p:sp>
    </p:spTree>
    <p:extLst>
      <p:ext uri="{BB962C8B-B14F-4D97-AF65-F5344CB8AC3E}">
        <p14:creationId xmlns:p14="http://schemas.microsoft.com/office/powerpoint/2010/main" val="366651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96FE7-47CE-9303-006B-E171B3A28DDB}"/>
              </a:ext>
            </a:extLst>
          </p:cNvPr>
          <p:cNvSpPr>
            <a:spLocks noGrp="1"/>
          </p:cNvSpPr>
          <p:nvPr>
            <p:ph type="title"/>
          </p:nvPr>
        </p:nvSpPr>
        <p:spPr>
          <a:xfrm>
            <a:off x="838200" y="227473"/>
            <a:ext cx="10515600" cy="1325563"/>
          </a:xfrm>
        </p:spPr>
        <p:txBody>
          <a:bodyPr/>
          <a:lstStyle/>
          <a:p>
            <a:r>
              <a:rPr lang="en-US" b="1"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E6EBE39F-3C21-D891-7925-A5E727A5D58A}"/>
              </a:ext>
            </a:extLst>
          </p:cNvPr>
          <p:cNvSpPr>
            <a:spLocks noGrp="1"/>
          </p:cNvSpPr>
          <p:nvPr>
            <p:ph idx="1"/>
          </p:nvPr>
        </p:nvSpPr>
        <p:spPr>
          <a:xfrm>
            <a:off x="838200" y="1317523"/>
            <a:ext cx="10515600" cy="5313004"/>
          </a:xfrm>
        </p:spPr>
        <p:txBody>
          <a:bodyPr>
            <a:normAutofit fontScale="85000" lnSpcReduction="20000"/>
          </a:bodyPr>
          <a:lstStyle/>
          <a:p>
            <a:pPr>
              <a:lnSpc>
                <a:spcPct val="120000"/>
              </a:lnSpc>
            </a:pPr>
            <a:r>
              <a:rPr lang="en-US" dirty="0">
                <a:latin typeface="Times New Roman" panose="02020603050405020304" pitchFamily="18" charset="0"/>
                <a:cs typeface="Times New Roman" panose="02020603050405020304" pitchFamily="18" charset="0"/>
              </a:rPr>
              <a:t>Traditional forecasting methods are insufficient for accurately predicting future climate and population changes due to:</a:t>
            </a:r>
          </a:p>
          <a:p>
            <a:pPr lvl="1">
              <a:lnSpc>
                <a:spcPct val="120000"/>
              </a:lnSpc>
            </a:pPr>
            <a:r>
              <a:rPr lang="en-US" sz="2600" dirty="0">
                <a:latin typeface="Times New Roman" panose="02020603050405020304" pitchFamily="18" charset="0"/>
                <a:cs typeface="Times New Roman" panose="02020603050405020304" pitchFamily="18" charset="0"/>
              </a:rPr>
              <a:t>Large volumes of environmental data </a:t>
            </a:r>
          </a:p>
          <a:p>
            <a:pPr lvl="1">
              <a:lnSpc>
                <a:spcPct val="120000"/>
              </a:lnSpc>
            </a:pPr>
            <a:r>
              <a:rPr lang="en-US" sz="2600" dirty="0">
                <a:latin typeface="Times New Roman" panose="02020603050405020304" pitchFamily="18" charset="0"/>
                <a:cs typeface="Times New Roman" panose="02020603050405020304" pitchFamily="18" charset="0"/>
              </a:rPr>
              <a:t>Complex climate patterns </a:t>
            </a:r>
          </a:p>
          <a:p>
            <a:pPr lvl="1">
              <a:lnSpc>
                <a:spcPct val="120000"/>
              </a:lnSpc>
            </a:pPr>
            <a:r>
              <a:rPr lang="en-US" sz="2600" dirty="0">
                <a:latin typeface="Times New Roman" panose="02020603050405020304" pitchFamily="18" charset="0"/>
                <a:cs typeface="Times New Roman" panose="02020603050405020304" pitchFamily="18" charset="0"/>
              </a:rPr>
              <a:t>Rapid population growth </a:t>
            </a:r>
          </a:p>
          <a:p>
            <a:pPr lvl="1">
              <a:lnSpc>
                <a:spcPct val="120000"/>
              </a:lnSpc>
            </a:pPr>
            <a:r>
              <a:rPr lang="en-US" sz="2600" dirty="0">
                <a:latin typeface="Times New Roman" panose="02020603050405020304" pitchFamily="18" charset="0"/>
                <a:cs typeface="Times New Roman" panose="02020603050405020304" pitchFamily="18" charset="0"/>
              </a:rPr>
              <a:t>Increasing carbon emissions </a:t>
            </a:r>
          </a:p>
          <a:p>
            <a:pPr lvl="1">
              <a:lnSpc>
                <a:spcPct val="120000"/>
              </a:lnSpc>
            </a:pPr>
            <a:r>
              <a:rPr lang="en-US" sz="2600" dirty="0">
                <a:latin typeface="Times New Roman" panose="02020603050405020304" pitchFamily="18" charset="0"/>
                <a:cs typeface="Times New Roman" panose="02020603050405020304" pitchFamily="18" charset="0"/>
              </a:rPr>
              <a:t>Unpredictable environmental variations </a:t>
            </a:r>
          </a:p>
          <a:p>
            <a:pPr>
              <a:lnSpc>
                <a:spcPct val="120000"/>
              </a:lnSpc>
            </a:pPr>
            <a:r>
              <a:rPr lang="en-US" dirty="0">
                <a:latin typeface="Times New Roman" panose="02020603050405020304" pitchFamily="18" charset="0"/>
                <a:cs typeface="Times New Roman" panose="02020603050405020304" pitchFamily="18" charset="0"/>
              </a:rPr>
              <a:t>There is a need for an intelligent prediction system capable of:</a:t>
            </a:r>
          </a:p>
          <a:p>
            <a:pPr lvl="1">
              <a:lnSpc>
                <a:spcPct val="120000"/>
              </a:lnSpc>
            </a:pPr>
            <a:r>
              <a:rPr lang="en-US" sz="2600" dirty="0">
                <a:latin typeface="Times New Roman" panose="02020603050405020304" pitchFamily="18" charset="0"/>
                <a:cs typeface="Times New Roman" panose="02020603050405020304" pitchFamily="18" charset="0"/>
              </a:rPr>
              <a:t>Analyzing historical data efficiently </a:t>
            </a:r>
          </a:p>
          <a:p>
            <a:pPr lvl="1">
              <a:lnSpc>
                <a:spcPct val="120000"/>
              </a:lnSpc>
            </a:pPr>
            <a:r>
              <a:rPr lang="en-US" sz="2600" dirty="0">
                <a:latin typeface="Times New Roman" panose="02020603050405020304" pitchFamily="18" charset="0"/>
                <a:cs typeface="Times New Roman" panose="02020603050405020304" pitchFamily="18" charset="0"/>
              </a:rPr>
              <a:t>Predicting future climate conditions </a:t>
            </a:r>
          </a:p>
          <a:p>
            <a:pPr lvl="1">
              <a:lnSpc>
                <a:spcPct val="120000"/>
              </a:lnSpc>
            </a:pPr>
            <a:r>
              <a:rPr lang="en-US" sz="2600" dirty="0">
                <a:latin typeface="Times New Roman" panose="02020603050405020304" pitchFamily="18" charset="0"/>
                <a:cs typeface="Times New Roman" panose="02020603050405020304" pitchFamily="18" charset="0"/>
              </a:rPr>
              <a:t>Forecasting population growth accurately </a:t>
            </a:r>
          </a:p>
          <a:p>
            <a:pPr lvl="1">
              <a:lnSpc>
                <a:spcPct val="120000"/>
              </a:lnSpc>
            </a:pPr>
            <a:r>
              <a:rPr lang="en-US" sz="2600" dirty="0">
                <a:latin typeface="Times New Roman" panose="02020603050405020304" pitchFamily="18" charset="0"/>
                <a:cs typeface="Times New Roman" panose="02020603050405020304" pitchFamily="18" charset="0"/>
              </a:rPr>
              <a:t>Supporting environmental sustainability decisions</a:t>
            </a:r>
          </a:p>
          <a:p>
            <a:endParaRPr lang="en-IN" dirty="0"/>
          </a:p>
        </p:txBody>
      </p:sp>
    </p:spTree>
    <p:extLst>
      <p:ext uri="{BB962C8B-B14F-4D97-AF65-F5344CB8AC3E}">
        <p14:creationId xmlns:p14="http://schemas.microsoft.com/office/powerpoint/2010/main" val="1196991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3AE1E-582D-F098-205B-7F17C63160A9}"/>
              </a:ext>
            </a:extLst>
          </p:cNvPr>
          <p:cNvSpPr>
            <a:spLocks noGrp="1"/>
          </p:cNvSpPr>
          <p:nvPr>
            <p:ph type="ctrTitle"/>
          </p:nvPr>
        </p:nvSpPr>
        <p:spPr>
          <a:xfrm>
            <a:off x="393290" y="418844"/>
            <a:ext cx="9144000" cy="952243"/>
          </a:xfrm>
        </p:spPr>
        <p:txBody>
          <a:bodyPr/>
          <a:lstStyle/>
          <a:p>
            <a:r>
              <a:rPr lang="en-IN" b="1" dirty="0">
                <a:latin typeface="Times New Roman" panose="02020603050405020304" pitchFamily="18" charset="0"/>
                <a:cs typeface="Times New Roman" panose="02020603050405020304" pitchFamily="18" charset="0"/>
              </a:rPr>
              <a:t>SIZE OF THE DATASET :</a:t>
            </a:r>
          </a:p>
        </p:txBody>
      </p:sp>
      <p:sp>
        <p:nvSpPr>
          <p:cNvPr id="3" name="Subtitle 2">
            <a:extLst>
              <a:ext uri="{FF2B5EF4-FFF2-40B4-BE49-F238E27FC236}">
                <a16:creationId xmlns:a16="http://schemas.microsoft.com/office/drawing/2014/main" id="{DEA8037D-B023-74C1-E5F6-846078951952}"/>
              </a:ext>
            </a:extLst>
          </p:cNvPr>
          <p:cNvSpPr>
            <a:spLocks noGrp="1"/>
          </p:cNvSpPr>
          <p:nvPr>
            <p:ph type="subTitle" idx="1"/>
          </p:nvPr>
        </p:nvSpPr>
        <p:spPr>
          <a:xfrm>
            <a:off x="816077" y="1504335"/>
            <a:ext cx="9851923" cy="4257367"/>
          </a:xfrm>
        </p:spPr>
        <p:txBody>
          <a:bodyPr>
            <a:normAutofit/>
          </a:bodyPr>
          <a:lstStyle/>
          <a:p>
            <a:r>
              <a:rPr lang="en-IN" sz="2800" dirty="0">
                <a:solidFill>
                  <a:srgbClr val="FF0000"/>
                </a:solidFill>
                <a:latin typeface="Times New Roman" panose="02020603050405020304" pitchFamily="18" charset="0"/>
                <a:cs typeface="Times New Roman" panose="02020603050405020304" pitchFamily="18" charset="0"/>
              </a:rPr>
              <a:t>SIZE OF THE DATASET </a:t>
            </a:r>
            <a:r>
              <a:rPr lang="en-IN" dirty="0">
                <a:solidFill>
                  <a:srgbClr val="FF0000"/>
                </a:solidFill>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Climate dataset        </a:t>
            </a:r>
            <a:r>
              <a:rPr lang="en-IN" dirty="0">
                <a:latin typeface="Times New Roman" panose="02020603050405020304" pitchFamily="18" charset="0"/>
                <a:cs typeface="Times New Roman" panose="02020603050405020304" pitchFamily="18" charset="0"/>
                <a:sym typeface="Wingdings" panose="05000000000000000000" pitchFamily="2" charset="2"/>
              </a:rPr>
              <a:t>      3 – 4 kb</a:t>
            </a:r>
          </a:p>
          <a:p>
            <a:r>
              <a:rPr lang="en-IN" dirty="0">
                <a:latin typeface="Times New Roman" panose="02020603050405020304" pitchFamily="18" charset="0"/>
                <a:cs typeface="Times New Roman" panose="02020603050405020304" pitchFamily="18" charset="0"/>
                <a:sym typeface="Wingdings" panose="05000000000000000000" pitchFamily="2" charset="2"/>
              </a:rPr>
              <a:t>Population dataset        4 – 5 kb</a:t>
            </a:r>
          </a:p>
          <a:p>
            <a:r>
              <a:rPr lang="en-IN" sz="28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FEATURES OF THE DATASET :</a:t>
            </a:r>
          </a:p>
          <a:p>
            <a:r>
              <a:rPr lang="en-IN" dirty="0">
                <a:latin typeface="Times New Roman" panose="02020603050405020304" pitchFamily="18" charset="0"/>
                <a:cs typeface="Times New Roman" panose="02020603050405020304" pitchFamily="18" charset="0"/>
                <a:sym typeface="Wingdings" panose="05000000000000000000" pitchFamily="2" charset="2"/>
              </a:rPr>
              <a:t>Climate dataset:</a:t>
            </a:r>
          </a:p>
          <a:p>
            <a:r>
              <a:rPr lang="en-IN" dirty="0">
                <a:latin typeface="Times New Roman" panose="02020603050405020304" pitchFamily="18" charset="0"/>
                <a:cs typeface="Times New Roman" panose="02020603050405020304" pitchFamily="18" charset="0"/>
                <a:sym typeface="Wingdings" panose="05000000000000000000" pitchFamily="2" charset="2"/>
              </a:rPr>
              <a:t>Year , CO2 emission, sea level, Temperature  (predicting global temperature)</a:t>
            </a:r>
          </a:p>
          <a:p>
            <a:r>
              <a:rPr lang="en-IN" dirty="0">
                <a:latin typeface="Times New Roman" panose="02020603050405020304" pitchFamily="18" charset="0"/>
                <a:cs typeface="Times New Roman" panose="02020603050405020304" pitchFamily="18" charset="0"/>
                <a:sym typeface="Wingdings" panose="05000000000000000000" pitchFamily="2" charset="2"/>
              </a:rPr>
              <a:t>Population dataset:</a:t>
            </a:r>
          </a:p>
          <a:p>
            <a:r>
              <a:rPr lang="en-IN" dirty="0">
                <a:latin typeface="Times New Roman" panose="02020603050405020304" pitchFamily="18" charset="0"/>
                <a:cs typeface="Times New Roman" panose="02020603050405020304" pitchFamily="18" charset="0"/>
                <a:sym typeface="Wingdings" panose="05000000000000000000" pitchFamily="2" charset="2"/>
              </a:rPr>
              <a:t>Year, Birth rate, Death rate, Urban population, Life expectancy, population(in billions)  (predicting  population)</a:t>
            </a:r>
          </a:p>
          <a:p>
            <a:endParaRPr lang="en-IN" dirty="0">
              <a:sym typeface="Wingdings" panose="05000000000000000000" pitchFamily="2" charset="2"/>
            </a:endParaRPr>
          </a:p>
        </p:txBody>
      </p:sp>
    </p:spTree>
    <p:extLst>
      <p:ext uri="{BB962C8B-B14F-4D97-AF65-F5344CB8AC3E}">
        <p14:creationId xmlns:p14="http://schemas.microsoft.com/office/powerpoint/2010/main" val="2234943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5347-A840-8019-F376-4E26EA819570}"/>
              </a:ext>
            </a:extLst>
          </p:cNvPr>
          <p:cNvSpPr>
            <a:spLocks noGrp="1"/>
          </p:cNvSpPr>
          <p:nvPr>
            <p:ph type="title"/>
          </p:nvPr>
        </p:nvSpPr>
        <p:spPr>
          <a:xfrm>
            <a:off x="326922" y="178313"/>
            <a:ext cx="10515600" cy="922900"/>
          </a:xfrm>
        </p:spPr>
        <p:txBody>
          <a:bodyPr/>
          <a:lstStyle/>
          <a:p>
            <a:r>
              <a:rPr lang="en-IN" b="1" dirty="0">
                <a:solidFill>
                  <a:srgbClr val="FF0000"/>
                </a:solidFill>
                <a:latin typeface="Times New Roman" panose="02020603050405020304" pitchFamily="18" charset="0"/>
                <a:cs typeface="Times New Roman" panose="02020603050405020304" pitchFamily="18" charset="0"/>
              </a:rPr>
              <a:t>WHY THIS ALGORITHM ?</a:t>
            </a:r>
          </a:p>
        </p:txBody>
      </p:sp>
      <p:sp>
        <p:nvSpPr>
          <p:cNvPr id="3" name="Content Placeholder 2">
            <a:extLst>
              <a:ext uri="{FF2B5EF4-FFF2-40B4-BE49-F238E27FC236}">
                <a16:creationId xmlns:a16="http://schemas.microsoft.com/office/drawing/2014/main" id="{E140F45D-C643-B506-5446-B5569E04F03E}"/>
              </a:ext>
            </a:extLst>
          </p:cNvPr>
          <p:cNvSpPr>
            <a:spLocks noGrp="1"/>
          </p:cNvSpPr>
          <p:nvPr>
            <p:ph idx="1"/>
          </p:nvPr>
        </p:nvSpPr>
        <p:spPr>
          <a:xfrm>
            <a:off x="838200" y="1337187"/>
            <a:ext cx="10515600" cy="4572000"/>
          </a:xfrm>
        </p:spPr>
        <p:txBody>
          <a:bodyPr/>
          <a:lstStyle/>
          <a:p>
            <a:pPr marL="0" indent="0">
              <a:buNone/>
            </a:pPr>
            <a:r>
              <a:rPr lang="en-IN" dirty="0">
                <a:latin typeface="Times New Roman" panose="02020603050405020304" pitchFamily="18" charset="0"/>
                <a:cs typeface="Times New Roman" panose="02020603050405020304" pitchFamily="18" charset="0"/>
              </a:rPr>
              <a:t>MODEL USED HERE IS </a:t>
            </a:r>
            <a:r>
              <a:rPr lang="en-IN" dirty="0">
                <a:solidFill>
                  <a:srgbClr val="00B0F0"/>
                </a:solidFill>
                <a:latin typeface="Times New Roman" panose="02020603050405020304" pitchFamily="18" charset="0"/>
                <a:cs typeface="Times New Roman" panose="02020603050405020304" pitchFamily="18" charset="0"/>
              </a:rPr>
              <a:t>LINEAR REGRESSION </a:t>
            </a:r>
            <a:r>
              <a:rPr lang="en-IN" dirty="0">
                <a:latin typeface="Times New Roman" panose="02020603050405020304" pitchFamily="18" charset="0"/>
                <a:cs typeface="Times New Roman" panose="02020603050405020304" pitchFamily="18" charset="0"/>
              </a:rPr>
              <a:t>(</a:t>
            </a:r>
            <a:r>
              <a:rPr lang="en-IN" dirty="0">
                <a:solidFill>
                  <a:srgbClr val="00B050"/>
                </a:solidFill>
                <a:latin typeface="Times New Roman" panose="02020603050405020304" pitchFamily="18" charset="0"/>
                <a:cs typeface="Times New Roman" panose="02020603050405020304" pitchFamily="18" charset="0"/>
              </a:rPr>
              <a:t>OR MULTIVARIATE    REGRESSION </a:t>
            </a:r>
            <a:r>
              <a:rPr lang="en-IN"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dirty="0">
                <a:solidFill>
                  <a:srgbClr val="00B05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Simple</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interpretable, and fits well with time-series and numeric prediction tasks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Ideal for small datasets and continuous outputs (like temperature or population)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observe trends over years (e.g., Year vs CO₂ vs Temp)</a:t>
            </a:r>
          </a:p>
          <a:p>
            <a:pPr marL="0" indent="0">
              <a:buNone/>
            </a:pPr>
            <a:endParaRPr lang="en-IN" dirty="0">
              <a:solidFill>
                <a:srgbClr val="00B050"/>
              </a:solidFill>
            </a:endParaRPr>
          </a:p>
        </p:txBody>
      </p:sp>
    </p:spTree>
    <p:extLst>
      <p:ext uri="{BB962C8B-B14F-4D97-AF65-F5344CB8AC3E}">
        <p14:creationId xmlns:p14="http://schemas.microsoft.com/office/powerpoint/2010/main" val="1263333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38E43-3061-1B51-365B-25429F523505}"/>
              </a:ext>
            </a:extLst>
          </p:cNvPr>
          <p:cNvSpPr>
            <a:spLocks noGrp="1"/>
          </p:cNvSpPr>
          <p:nvPr>
            <p:ph type="title"/>
          </p:nvPr>
        </p:nvSpPr>
        <p:spPr>
          <a:xfrm>
            <a:off x="228600" y="180257"/>
            <a:ext cx="10515600" cy="1001559"/>
          </a:xfrm>
        </p:spPr>
        <p:txBody>
          <a:bodyPr/>
          <a:lstStyle/>
          <a:p>
            <a:r>
              <a:rPr lang="en-US" b="1" dirty="0">
                <a:latin typeface="Times New Roman" panose="02020603050405020304" pitchFamily="18" charset="0"/>
                <a:cs typeface="Times New Roman" panose="02020603050405020304" pitchFamily="18" charset="0"/>
              </a:rPr>
              <a:t>PREPROCESSING TECHNIQUES: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79BD17-8DC5-9255-A2D4-AF57C275DDDF}"/>
              </a:ext>
            </a:extLst>
          </p:cNvPr>
          <p:cNvSpPr>
            <a:spLocks noGrp="1"/>
          </p:cNvSpPr>
          <p:nvPr>
            <p:ph idx="1"/>
          </p:nvPr>
        </p:nvSpPr>
        <p:spPr>
          <a:xfrm>
            <a:off x="550606" y="1052052"/>
            <a:ext cx="10803194" cy="5124911"/>
          </a:xfrm>
        </p:spPr>
        <p:txBody>
          <a:bodyPr/>
          <a:lstStyle/>
          <a:p>
            <a:pPr marL="0" indent="0">
              <a:buNone/>
            </a:pPr>
            <a:r>
              <a:rPr lang="en-US" dirty="0">
                <a:latin typeface="Times New Roman" panose="02020603050405020304" pitchFamily="18" charset="0"/>
                <a:cs typeface="Times New Roman" panose="02020603050405020304" pitchFamily="18" charset="0"/>
              </a:rPr>
              <a:t>THERE ARE </a:t>
            </a:r>
            <a:r>
              <a:rPr lang="en-US" dirty="0">
                <a:highlight>
                  <a:srgbClr val="FFFF00"/>
                </a:highlight>
                <a:latin typeface="Times New Roman" panose="02020603050405020304" pitchFamily="18" charset="0"/>
                <a:cs typeface="Times New Roman" panose="02020603050405020304" pitchFamily="18" charset="0"/>
              </a:rPr>
              <a:t>TOTALLY 5 PREPROCESSING TECHNIQUES </a:t>
            </a:r>
            <a:r>
              <a:rPr lang="en-US" dirty="0">
                <a:latin typeface="Times New Roman" panose="02020603050405020304" pitchFamily="18" charset="0"/>
                <a:cs typeface="Times New Roman" panose="02020603050405020304" pitchFamily="18" charset="0"/>
              </a:rPr>
              <a:t>USED IN THIS:</a:t>
            </a:r>
          </a:p>
          <a:p>
            <a:pPr marL="514350" indent="-514350">
              <a:buAutoNum type="arabicPeriod"/>
            </a:pPr>
            <a:r>
              <a:rPr lang="en-US" dirty="0">
                <a:latin typeface="Times New Roman" panose="02020603050405020304" pitchFamily="18" charset="0"/>
                <a:cs typeface="Times New Roman" panose="02020603050405020304" pitchFamily="18" charset="0"/>
              </a:rPr>
              <a:t>Handling missing values:</a:t>
            </a:r>
          </a:p>
          <a:p>
            <a:pPr marL="0" indent="0">
              <a:buNone/>
            </a:pPr>
            <a:r>
              <a:rPr lang="en-US" dirty="0">
                <a:latin typeface="Times New Roman" panose="02020603050405020304" pitchFamily="18" charset="0"/>
                <a:cs typeface="Times New Roman" panose="02020603050405020304" pitchFamily="18" charset="0"/>
              </a:rPr>
              <a:t>                                     The technique used in this is </a:t>
            </a:r>
            <a:r>
              <a:rPr lang="en-US" dirty="0">
                <a:solidFill>
                  <a:srgbClr val="C00000"/>
                </a:solidFill>
                <a:latin typeface="Times New Roman" panose="02020603050405020304" pitchFamily="18" charset="0"/>
                <a:cs typeface="Times New Roman" panose="02020603050405020304" pitchFamily="18" charset="0"/>
              </a:rPr>
              <a:t>Linear Interpolation.</a:t>
            </a:r>
          </a:p>
          <a:p>
            <a:pPr marL="0" indent="0">
              <a:buNone/>
            </a:pPr>
            <a:r>
              <a:rPr lang="en-US" dirty="0">
                <a:latin typeface="Times New Roman" panose="02020603050405020304" pitchFamily="18" charset="0"/>
                <a:cs typeface="Times New Roman" panose="02020603050405020304" pitchFamily="18" charset="0"/>
              </a:rPr>
              <a:t>This keeps smooth trend over time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Outlier detection and handling:</a:t>
            </a:r>
          </a:p>
          <a:p>
            <a:pPr marL="0" indent="0">
              <a:buNone/>
            </a:pPr>
            <a:r>
              <a:rPr lang="en-US" dirty="0">
                <a:latin typeface="Times New Roman" panose="02020603050405020304" pitchFamily="18" charset="0"/>
                <a:cs typeface="Times New Roman" panose="02020603050405020304" pitchFamily="18" charset="0"/>
              </a:rPr>
              <a:t>                                  Replacing abnormal values or extremely high spikes into </a:t>
            </a:r>
            <a:r>
              <a:rPr lang="en-US" dirty="0" err="1">
                <a:solidFill>
                  <a:srgbClr val="C00000"/>
                </a:solidFill>
                <a:latin typeface="Times New Roman" panose="02020603050405020304" pitchFamily="18" charset="0"/>
                <a:cs typeface="Times New Roman" panose="02020603050405020304" pitchFamily="18" charset="0"/>
              </a:rPr>
              <a:t>NaN</a:t>
            </a:r>
            <a:r>
              <a:rPr lang="en-US" dirty="0">
                <a:latin typeface="Times New Roman" panose="02020603050405020304" pitchFamily="18" charset="0"/>
                <a:cs typeface="Times New Roman" panose="02020603050405020304" pitchFamily="18" charset="0"/>
              </a:rPr>
              <a:t> . Outliers distort regression models and reduce accuracy.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7811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49EA-22D2-7E16-4DE8-51C43F1FE383}"/>
              </a:ext>
            </a:extLst>
          </p:cNvPr>
          <p:cNvSpPr>
            <a:spLocks noGrp="1"/>
          </p:cNvSpPr>
          <p:nvPr>
            <p:ph type="title"/>
          </p:nvPr>
        </p:nvSpPr>
        <p:spPr>
          <a:xfrm>
            <a:off x="189271" y="209754"/>
            <a:ext cx="9023555" cy="942565"/>
          </a:xfrm>
        </p:spPr>
        <p:txBody>
          <a:bodyPr/>
          <a:lstStyle/>
          <a:p>
            <a:r>
              <a:rPr lang="en-US" dirty="0">
                <a:latin typeface="Times New Roman" panose="02020603050405020304" pitchFamily="18" charset="0"/>
                <a:cs typeface="Times New Roman" panose="02020603050405020304" pitchFamily="18" charset="0"/>
              </a:rPr>
              <a:t>PREPROCESSING TECHNIQUES: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49F7E0-3597-5BB9-26FB-1C4ED16FC9F5}"/>
              </a:ext>
            </a:extLst>
          </p:cNvPr>
          <p:cNvSpPr>
            <a:spLocks noGrp="1"/>
          </p:cNvSpPr>
          <p:nvPr>
            <p:ph idx="1"/>
          </p:nvPr>
        </p:nvSpPr>
        <p:spPr>
          <a:xfrm>
            <a:off x="432619" y="1278193"/>
            <a:ext cx="11474246" cy="4886633"/>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3. Data type conversion:</a:t>
            </a:r>
          </a:p>
          <a:p>
            <a:pPr marL="0" indent="0">
              <a:buNone/>
            </a:pPr>
            <a:r>
              <a:rPr lang="en-US" dirty="0">
                <a:latin typeface="Times New Roman" panose="02020603050405020304" pitchFamily="18" charset="0"/>
                <a:cs typeface="Times New Roman" panose="02020603050405020304" pitchFamily="18" charset="0"/>
              </a:rPr>
              <a:t>                                       Converting strings / object columns into float using </a:t>
            </a:r>
            <a:r>
              <a:rPr lang="en-US" dirty="0" err="1">
                <a:solidFill>
                  <a:srgbClr val="C00000"/>
                </a:solidFill>
                <a:latin typeface="Times New Roman" panose="02020603050405020304" pitchFamily="18" charset="0"/>
                <a:cs typeface="Times New Roman" panose="02020603050405020304" pitchFamily="18" charset="0"/>
              </a:rPr>
              <a:t>pd.to_numeric</a:t>
            </a:r>
            <a:r>
              <a:rPr lang="en-US" dirty="0">
                <a:solidFill>
                  <a:srgbClr val="C00000"/>
                </a:solidFill>
                <a:latin typeface="Times New Roman" panose="02020603050405020304" pitchFamily="18" charset="0"/>
                <a:cs typeface="Times New Roman" panose="02020603050405020304" pitchFamily="18" charset="0"/>
              </a:rPr>
              <a:t>(errors = ‘coerce’) </a:t>
            </a:r>
            <a:r>
              <a:rPr lang="en-US" dirty="0">
                <a:latin typeface="Times New Roman" panose="02020603050405020304" pitchFamily="18" charset="0"/>
                <a:cs typeface="Times New Roman" panose="02020603050405020304" pitchFamily="18" charset="0"/>
              </a:rPr>
              <a:t>, because machine learning models only work with numerical inputs.</a:t>
            </a:r>
          </a:p>
          <a:p>
            <a:pPr marL="0" indent="0">
              <a:buNone/>
            </a:pPr>
            <a:r>
              <a:rPr lang="en-US" dirty="0">
                <a:latin typeface="Times New Roman" panose="02020603050405020304" pitchFamily="18" charset="0"/>
                <a:cs typeface="Times New Roman" panose="02020603050405020304" pitchFamily="18" charset="0"/>
              </a:rPr>
              <a:t>4. Feature scaling (Normalization):</a:t>
            </a:r>
          </a:p>
          <a:p>
            <a:pPr marL="0" indent="0">
              <a:buNone/>
            </a:pPr>
            <a:r>
              <a:rPr lang="en-US" dirty="0">
                <a:latin typeface="Times New Roman" panose="02020603050405020304" pitchFamily="18" charset="0"/>
                <a:cs typeface="Times New Roman" panose="02020603050405020304" pitchFamily="18" charset="0"/>
              </a:rPr>
              <a:t>                                    </a:t>
            </a:r>
            <a:r>
              <a:rPr lang="en-US" dirty="0" err="1">
                <a:solidFill>
                  <a:srgbClr val="C00000"/>
                </a:solidFill>
                <a:latin typeface="Times New Roman" panose="02020603050405020304" pitchFamily="18" charset="0"/>
                <a:cs typeface="Times New Roman" panose="02020603050405020304" pitchFamily="18" charset="0"/>
              </a:rPr>
              <a:t>MinMaxscaler</a:t>
            </a:r>
            <a:r>
              <a:rPr lang="en-US" dirty="0">
                <a:solidFill>
                  <a:srgbClr val="C00000"/>
                </a:solidFill>
                <a:latin typeface="Times New Roman" panose="02020603050405020304" pitchFamily="18" charset="0"/>
                <a:cs typeface="Times New Roman" panose="02020603050405020304" pitchFamily="18" charset="0"/>
              </a:rPr>
              <a:t> from </a:t>
            </a:r>
            <a:r>
              <a:rPr lang="en-US" dirty="0" err="1">
                <a:solidFill>
                  <a:srgbClr val="C00000"/>
                </a:solidFill>
                <a:latin typeface="Times New Roman" panose="02020603050405020304" pitchFamily="18" charset="0"/>
                <a:cs typeface="Times New Roman" panose="02020603050405020304" pitchFamily="18" charset="0"/>
              </a:rPr>
              <a:t>sklearn.preprocessing</a:t>
            </a:r>
            <a:r>
              <a:rPr lang="en-US"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scale features like population, CO2, temperature , etc.. This ensures all features are in same scale(0 to 1), which improves model performance and accuracy.</a:t>
            </a:r>
          </a:p>
          <a:p>
            <a:pPr marL="0" indent="0">
              <a:buNone/>
            </a:pPr>
            <a:r>
              <a:rPr lang="en-US" dirty="0">
                <a:latin typeface="Times New Roman" panose="02020603050405020304" pitchFamily="18" charset="0"/>
                <a:cs typeface="Times New Roman" panose="02020603050405020304" pitchFamily="18" charset="0"/>
              </a:rPr>
              <a:t>5. Data Expansion:</a:t>
            </a:r>
          </a:p>
          <a:p>
            <a:pPr marL="0" indent="0">
              <a:buNone/>
            </a:pPr>
            <a:r>
              <a:rPr lang="en-US" dirty="0">
                <a:latin typeface="Times New Roman" panose="02020603050405020304" pitchFamily="18" charset="0"/>
                <a:cs typeface="Times New Roman" panose="02020603050405020304" pitchFamily="18" charset="0"/>
              </a:rPr>
              <a:t>                                  Generated additional rows by projecting future values based on the latest trend</a:t>
            </a:r>
            <a:r>
              <a:rPr lang="en-US" dirty="0">
                <a:solidFill>
                  <a:srgbClr val="C00000"/>
                </a:solidFill>
                <a:latin typeface="Times New Roman" panose="02020603050405020304" pitchFamily="18" charset="0"/>
                <a:cs typeface="Times New Roman" panose="02020603050405020304" pitchFamily="18" charset="0"/>
              </a:rPr>
              <a:t> using </a:t>
            </a:r>
            <a:r>
              <a:rPr lang="en-US" dirty="0" err="1">
                <a:solidFill>
                  <a:srgbClr val="C00000"/>
                </a:solidFill>
                <a:latin typeface="Times New Roman" panose="02020603050405020304" pitchFamily="18" charset="0"/>
                <a:cs typeface="Times New Roman" panose="02020603050405020304" pitchFamily="18" charset="0"/>
              </a:rPr>
              <a:t>numpy</a:t>
            </a:r>
            <a:r>
              <a:rPr lang="en-US" dirty="0">
                <a:solidFill>
                  <a:srgbClr val="C00000"/>
                </a:solidFill>
                <a:latin typeface="Times New Roman" panose="02020603050405020304" pitchFamily="18" charset="0"/>
                <a:cs typeface="Times New Roman" panose="02020603050405020304" pitchFamily="18" charset="0"/>
              </a:rPr>
              <a:t> and extrapolation using average yearly increase. </a:t>
            </a:r>
            <a:r>
              <a:rPr lang="en-US" dirty="0">
                <a:latin typeface="Times New Roman" panose="02020603050405020304" pitchFamily="18" charset="0"/>
                <a:cs typeface="Times New Roman" panose="02020603050405020304" pitchFamily="18" charset="0"/>
              </a:rPr>
              <a:t>This helps to build predictive model even if the real data is not present.</a:t>
            </a: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492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56660-91BC-D560-2D13-64DE0ECD952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SCOPE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E80EB2-876B-F851-540A-BE3AA3DBF773}"/>
              </a:ext>
            </a:extLst>
          </p:cNvPr>
          <p:cNvSpPr>
            <a:spLocks noGrp="1"/>
          </p:cNvSpPr>
          <p:nvPr>
            <p:ph idx="1"/>
          </p:nvPr>
        </p:nvSpPr>
        <p:spPr/>
        <p:txBody>
          <a:bodyPr/>
          <a:lstStyle/>
          <a:p>
            <a:pPr>
              <a:lnSpc>
                <a:spcPct val="150000"/>
              </a:lnSpc>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we forecast the planet's future by focusing on two critical aspects: climate trends and population growth. The uniqueness of this project lies in its combined approach — bringing both under a single framework to study the interdependence between human activity and environmental impact.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836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9F0C-1F44-ADB7-70FC-9FE7BB2770AA}"/>
              </a:ext>
            </a:extLst>
          </p:cNvPr>
          <p:cNvSpPr>
            <a:spLocks noGrp="1"/>
          </p:cNvSpPr>
          <p:nvPr>
            <p:ph type="title"/>
          </p:nvPr>
        </p:nvSpPr>
        <p:spPr>
          <a:xfrm>
            <a:off x="838200" y="365125"/>
            <a:ext cx="10515600" cy="627933"/>
          </a:xfrm>
        </p:spPr>
        <p:txBody>
          <a:bodyPr>
            <a:normAutofit fontScale="90000"/>
          </a:bodyPr>
          <a:lstStyle/>
          <a:p>
            <a:r>
              <a:rPr lang="en-IN" b="1" dirty="0">
                <a:latin typeface="Times New Roman" panose="02020603050405020304" pitchFamily="18" charset="0"/>
                <a:cs typeface="Times New Roman" panose="02020603050405020304" pitchFamily="18" charset="0"/>
              </a:rPr>
              <a:t>LITERATURE SURVEY:</a:t>
            </a:r>
          </a:p>
        </p:txBody>
      </p:sp>
      <p:graphicFrame>
        <p:nvGraphicFramePr>
          <p:cNvPr id="6" name="Content Placeholder 5">
            <a:extLst>
              <a:ext uri="{FF2B5EF4-FFF2-40B4-BE49-F238E27FC236}">
                <a16:creationId xmlns:a16="http://schemas.microsoft.com/office/drawing/2014/main" id="{7BA777B9-889E-2F17-C966-D3608D10D61B}"/>
              </a:ext>
            </a:extLst>
          </p:cNvPr>
          <p:cNvGraphicFramePr>
            <a:graphicFrameLocks noGrp="1"/>
          </p:cNvGraphicFramePr>
          <p:nvPr>
            <p:ph idx="1"/>
            <p:extLst>
              <p:ext uri="{D42A27DB-BD31-4B8C-83A1-F6EECF244321}">
                <p14:modId xmlns:p14="http://schemas.microsoft.com/office/powerpoint/2010/main" val="3321421268"/>
              </p:ext>
            </p:extLst>
          </p:nvPr>
        </p:nvGraphicFramePr>
        <p:xfrm>
          <a:off x="838199" y="1101213"/>
          <a:ext cx="10515601" cy="5371211"/>
        </p:xfrm>
        <a:graphic>
          <a:graphicData uri="http://schemas.openxmlformats.org/drawingml/2006/table">
            <a:tbl>
              <a:tblPr firstRow="1" bandRow="1">
                <a:tableStyleId>{5C22544A-7EE6-4342-B048-85BDC9FD1C3A}</a:tableStyleId>
              </a:tblPr>
              <a:tblGrid>
                <a:gridCol w="902111">
                  <a:extLst>
                    <a:ext uri="{9D8B030D-6E8A-4147-A177-3AD203B41FA5}">
                      <a16:colId xmlns:a16="http://schemas.microsoft.com/office/drawing/2014/main" val="3668937380"/>
                    </a:ext>
                  </a:extLst>
                </a:gridCol>
                <a:gridCol w="2418735">
                  <a:extLst>
                    <a:ext uri="{9D8B030D-6E8A-4147-A177-3AD203B41FA5}">
                      <a16:colId xmlns:a16="http://schemas.microsoft.com/office/drawing/2014/main" val="1670448151"/>
                    </a:ext>
                  </a:extLst>
                </a:gridCol>
                <a:gridCol w="1157855">
                  <a:extLst>
                    <a:ext uri="{9D8B030D-6E8A-4147-A177-3AD203B41FA5}">
                      <a16:colId xmlns:a16="http://schemas.microsoft.com/office/drawing/2014/main" val="2813893147"/>
                    </a:ext>
                  </a:extLst>
                </a:gridCol>
                <a:gridCol w="3933780">
                  <a:extLst>
                    <a:ext uri="{9D8B030D-6E8A-4147-A177-3AD203B41FA5}">
                      <a16:colId xmlns:a16="http://schemas.microsoft.com/office/drawing/2014/main" val="1559770310"/>
                    </a:ext>
                  </a:extLst>
                </a:gridCol>
                <a:gridCol w="2103120">
                  <a:extLst>
                    <a:ext uri="{9D8B030D-6E8A-4147-A177-3AD203B41FA5}">
                      <a16:colId xmlns:a16="http://schemas.microsoft.com/office/drawing/2014/main" val="3434434623"/>
                    </a:ext>
                  </a:extLst>
                </a:gridCol>
              </a:tblGrid>
              <a:tr h="4491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SI.NO</a:t>
                      </a:r>
                    </a:p>
                  </a:txBody>
                  <a:tcPr/>
                </a:tc>
                <a:tc>
                  <a:txBody>
                    <a:bodyPr/>
                    <a:lstStyle/>
                    <a:p>
                      <a:pPr algn="l"/>
                      <a:r>
                        <a:rPr lang="en-IN" dirty="0">
                          <a:latin typeface="Times New Roman" panose="02020603050405020304" pitchFamily="18" charset="0"/>
                          <a:cs typeface="Times New Roman" panose="02020603050405020304" pitchFamily="18" charset="0"/>
                        </a:rPr>
                        <a:t>TITLE </a:t>
                      </a:r>
                    </a:p>
                  </a:txBody>
                  <a:tcPr/>
                </a:tc>
                <a:tc>
                  <a:txBody>
                    <a:bodyPr/>
                    <a:lstStyle/>
                    <a:p>
                      <a:pPr algn="l"/>
                      <a:r>
                        <a:rPr lang="en-IN" dirty="0">
                          <a:latin typeface="Times New Roman" panose="02020603050405020304" pitchFamily="18" charset="0"/>
                          <a:cs typeface="Times New Roman" panose="02020603050405020304" pitchFamily="18" charset="0"/>
                        </a:rPr>
                        <a:t>YEAR</a:t>
                      </a:r>
                    </a:p>
                  </a:txBody>
                  <a:tcPr/>
                </a:tc>
                <a:tc>
                  <a:txBody>
                    <a:bodyPr/>
                    <a:lstStyle/>
                    <a:p>
                      <a:pPr algn="l"/>
                      <a:r>
                        <a:rPr lang="en-IN" dirty="0">
                          <a:latin typeface="Times New Roman" panose="02020603050405020304" pitchFamily="18" charset="0"/>
                          <a:cs typeface="Times New Roman" panose="02020603050405020304" pitchFamily="18" charset="0"/>
                        </a:rPr>
                        <a:t>OBJECTIVE</a:t>
                      </a:r>
                    </a:p>
                  </a:txBody>
                  <a:tcPr/>
                </a:tc>
                <a:tc>
                  <a:txBody>
                    <a:bodyPr/>
                    <a:lstStyle/>
                    <a:p>
                      <a:pPr algn="l"/>
                      <a:r>
                        <a:rPr lang="en-IN" dirty="0">
                          <a:latin typeface="Times New Roman" panose="02020603050405020304" pitchFamily="18" charset="0"/>
                          <a:cs typeface="Times New Roman" panose="02020603050405020304" pitchFamily="18" charset="0"/>
                        </a:rPr>
                        <a:t>ALGORITHM</a:t>
                      </a:r>
                    </a:p>
                  </a:txBody>
                  <a:tcPr/>
                </a:tc>
                <a:extLst>
                  <a:ext uri="{0D108BD9-81ED-4DB2-BD59-A6C34878D82A}">
                    <a16:rowId xmlns:a16="http://schemas.microsoft.com/office/drawing/2014/main" val="2815629323"/>
                  </a:ext>
                </a:extLst>
              </a:tr>
              <a:tr h="844591">
                <a:tc>
                  <a:txBody>
                    <a:bodyPr/>
                    <a:lstStyle/>
                    <a:p>
                      <a:pPr algn="ctr"/>
                      <a:r>
                        <a:rPr lang="en-IN" sz="1400" dirty="0">
                          <a:latin typeface="Times New Roman" panose="02020603050405020304" pitchFamily="18" charset="0"/>
                          <a:cs typeface="Times New Roman" panose="02020603050405020304" pitchFamily="18" charset="0"/>
                        </a:rPr>
                        <a:t>1</a:t>
                      </a:r>
                    </a:p>
                  </a:txBody>
                  <a:tcPr/>
                </a:tc>
                <a:tc>
                  <a:txBody>
                    <a:bodyPr/>
                    <a:lstStyle/>
                    <a:p>
                      <a:r>
                        <a:rPr lang="en-US" sz="1400" dirty="0">
                          <a:latin typeface="Times New Roman" panose="02020603050405020304" pitchFamily="18" charset="0"/>
                          <a:cs typeface="Times New Roman" panose="02020603050405020304" pitchFamily="18" charset="0"/>
                        </a:rPr>
                        <a:t>Using Machine Learning in Statistical Models for Population Forecasting in Iraq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2025</a:t>
                      </a:r>
                    </a:p>
                  </a:txBody>
                  <a:tcPr/>
                </a:tc>
                <a:tc>
                  <a:txBody>
                    <a:bodyPr/>
                    <a:lstStyle/>
                    <a:p>
                      <a:r>
                        <a:rPr lang="en-US" sz="1400" dirty="0">
                          <a:latin typeface="Times New Roman" panose="02020603050405020304" pitchFamily="18" charset="0"/>
                          <a:cs typeface="Times New Roman" panose="02020603050405020304" pitchFamily="18" charset="0"/>
                        </a:rPr>
                        <a:t>To forecast the population of Iraq, comparing ML methods vs classical (statistical) models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Neural Networks + ARIMA </a:t>
                      </a:r>
                    </a:p>
                  </a:txBody>
                  <a:tcPr/>
                </a:tc>
                <a:extLst>
                  <a:ext uri="{0D108BD9-81ED-4DB2-BD59-A6C34878D82A}">
                    <a16:rowId xmlns:a16="http://schemas.microsoft.com/office/drawing/2014/main" val="2857882466"/>
                  </a:ext>
                </a:extLst>
              </a:tr>
              <a:tr h="816077">
                <a:tc>
                  <a:txBody>
                    <a:bodyPr/>
                    <a:lstStyle/>
                    <a:p>
                      <a:pPr algn="ctr"/>
                      <a:r>
                        <a:rPr lang="en-IN" sz="1400" dirty="0">
                          <a:latin typeface="Times New Roman" panose="02020603050405020304" pitchFamily="18" charset="0"/>
                          <a:cs typeface="Times New Roman" panose="02020603050405020304" pitchFamily="18" charset="0"/>
                        </a:rPr>
                        <a:t>2</a:t>
                      </a:r>
                    </a:p>
                  </a:txBody>
                  <a:tcPr/>
                </a:tc>
                <a:tc>
                  <a:txBody>
                    <a:bodyPr/>
                    <a:lstStyle/>
                    <a:p>
                      <a:r>
                        <a:rPr lang="en-US" sz="1400" dirty="0">
                          <a:latin typeface="Times New Roman" panose="02020603050405020304" pitchFamily="18" charset="0"/>
                          <a:cs typeface="Times New Roman" panose="02020603050405020304" pitchFamily="18" charset="0"/>
                        </a:rPr>
                        <a:t>An LSTM-PINN Hybrid Method to the specific problem of population forecasting</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2025 </a:t>
                      </a:r>
                    </a:p>
                  </a:txBody>
                  <a:tcPr/>
                </a:tc>
                <a:tc>
                  <a:txBody>
                    <a:bodyPr/>
                    <a:lstStyle/>
                    <a:p>
                      <a:r>
                        <a:rPr lang="en-US" sz="1400" dirty="0">
                          <a:latin typeface="Times New Roman" panose="02020603050405020304" pitchFamily="18" charset="0"/>
                          <a:cs typeface="Times New Roman" panose="02020603050405020304" pitchFamily="18" charset="0"/>
                        </a:rPr>
                        <a:t>To forecast population evolution under different fertility policy scenarios, combining domain knowledge with sequential dependency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PINN &amp; LSTM PINN hybrid models </a:t>
                      </a:r>
                    </a:p>
                  </a:txBody>
                  <a:tcPr/>
                </a:tc>
                <a:extLst>
                  <a:ext uri="{0D108BD9-81ED-4DB2-BD59-A6C34878D82A}">
                    <a16:rowId xmlns:a16="http://schemas.microsoft.com/office/drawing/2014/main" val="834220882"/>
                  </a:ext>
                </a:extLst>
              </a:tr>
              <a:tr h="449183">
                <a:tc>
                  <a:txBody>
                    <a:bodyPr/>
                    <a:lstStyle/>
                    <a:p>
                      <a:pPr algn="ctr"/>
                      <a:r>
                        <a:rPr lang="en-IN" sz="1400" dirty="0">
                          <a:latin typeface="Times New Roman" panose="02020603050405020304" pitchFamily="18" charset="0"/>
                          <a:cs typeface="Times New Roman" panose="02020603050405020304" pitchFamily="18" charset="0"/>
                        </a:rPr>
                        <a:t>3</a:t>
                      </a:r>
                    </a:p>
                  </a:txBody>
                  <a:tcPr/>
                </a:tc>
                <a:tc>
                  <a:txBody>
                    <a:bodyPr/>
                    <a:lstStyle/>
                    <a:p>
                      <a:r>
                        <a:rPr lang="en-US" sz="1400" dirty="0">
                          <a:latin typeface="Times New Roman" panose="02020603050405020304" pitchFamily="18" charset="0"/>
                          <a:cs typeface="Times New Roman" panose="02020603050405020304" pitchFamily="18" charset="0"/>
                        </a:rPr>
                        <a:t>Comparison Of 6 Machine Learning Models in Estimating Population Growth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latin typeface="Times New Roman" panose="02020603050405020304" pitchFamily="18" charset="0"/>
                          <a:cs typeface="Times New Roman" panose="02020603050405020304" pitchFamily="18" charset="0"/>
                        </a:rPr>
                        <a:t>To compare multiple ML methods for estimating population growth, examine which works best under which conditions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Linear Regression, Logistic Regression, Decision Trees, Random Forest, Neural Networks, SVM</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7007887"/>
                  </a:ext>
                </a:extLst>
              </a:tr>
              <a:tr h="449183">
                <a:tc>
                  <a:txBody>
                    <a:bodyPr/>
                    <a:lstStyle/>
                    <a:p>
                      <a:pPr algn="ctr"/>
                      <a:r>
                        <a:rPr lang="en-IN" sz="1400" dirty="0">
                          <a:latin typeface="Times New Roman" panose="02020603050405020304" pitchFamily="18" charset="0"/>
                          <a:cs typeface="Times New Roman" panose="02020603050405020304" pitchFamily="18" charset="0"/>
                        </a:rPr>
                        <a:t>4</a:t>
                      </a:r>
                    </a:p>
                  </a:txBody>
                  <a:tcPr/>
                </a:tc>
                <a:tc>
                  <a:txBody>
                    <a:bodyPr/>
                    <a:lstStyle/>
                    <a:p>
                      <a:r>
                        <a:rPr lang="en-US" sz="1400" dirty="0">
                          <a:latin typeface="Times New Roman" panose="02020603050405020304" pitchFamily="18" charset="0"/>
                          <a:cs typeface="Times New Roman" panose="02020603050405020304" pitchFamily="18" charset="0"/>
                        </a:rPr>
                        <a:t>Machine Learning Approaches for Climate Change Prediction: A Comparative Study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latin typeface="Times New Roman" panose="02020603050405020304" pitchFamily="18" charset="0"/>
                          <a:cs typeface="Times New Roman" panose="02020603050405020304" pitchFamily="18" charset="0"/>
                        </a:rPr>
                        <a:t>To compare multiple ML / ensemble / deep learning methods on climate indicators such as temperature/precipitation, and see which give best accuracy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CNN, RNN, Random Forests, Ensemble Methods (hybrids)</a:t>
                      </a:r>
                    </a:p>
                  </a:txBody>
                  <a:tcPr/>
                </a:tc>
                <a:extLst>
                  <a:ext uri="{0D108BD9-81ED-4DB2-BD59-A6C34878D82A}">
                    <a16:rowId xmlns:a16="http://schemas.microsoft.com/office/drawing/2014/main" val="2799661419"/>
                  </a:ext>
                </a:extLst>
              </a:tr>
              <a:tr h="449183">
                <a:tc>
                  <a:txBody>
                    <a:bodyPr/>
                    <a:lstStyle/>
                    <a:p>
                      <a:pPr algn="ctr"/>
                      <a:r>
                        <a:rPr lang="en-IN" sz="1400" dirty="0">
                          <a:latin typeface="Times New Roman" panose="02020603050405020304" pitchFamily="18" charset="0"/>
                          <a:cs typeface="Times New Roman" panose="02020603050405020304" pitchFamily="18" charset="0"/>
                        </a:rPr>
                        <a:t>5</a:t>
                      </a:r>
                    </a:p>
                  </a:txBody>
                  <a:tcPr/>
                </a:tc>
                <a:tc>
                  <a:txBody>
                    <a:bodyPr/>
                    <a:lstStyle/>
                    <a:p>
                      <a:r>
                        <a:rPr lang="en-US" sz="1400" dirty="0">
                          <a:latin typeface="Times New Roman" panose="02020603050405020304" pitchFamily="18" charset="0"/>
                          <a:cs typeface="Times New Roman" panose="02020603050405020304" pitchFamily="18" charset="0"/>
                        </a:rPr>
                        <a:t>Research on Global Climate Change Prediction based on Machine Learning Model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latin typeface="Times New Roman" panose="02020603050405020304" pitchFamily="18" charset="0"/>
                          <a:cs typeface="Times New Roman" panose="02020603050405020304" pitchFamily="18" charset="0"/>
                        </a:rPr>
                        <a:t>To use ML to predict global climate change while reducing computational cost and complexity of physical models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Machine Learning (type not always specific in abstract, but likely regression / ensemble methods) </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620243"/>
                  </a:ext>
                </a:extLst>
              </a:tr>
            </a:tbl>
          </a:graphicData>
        </a:graphic>
      </p:graphicFrame>
    </p:spTree>
    <p:extLst>
      <p:ext uri="{BB962C8B-B14F-4D97-AF65-F5344CB8AC3E}">
        <p14:creationId xmlns:p14="http://schemas.microsoft.com/office/powerpoint/2010/main" val="1785857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926D46C-35D4-BA4A-3D1B-6DC92746FCDD}"/>
              </a:ext>
            </a:extLst>
          </p:cNvPr>
          <p:cNvSpPr/>
          <p:nvPr/>
        </p:nvSpPr>
        <p:spPr>
          <a:xfrm>
            <a:off x="806247" y="1209368"/>
            <a:ext cx="2615381" cy="993058"/>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DATA SOURCES</a:t>
            </a:r>
          </a:p>
        </p:txBody>
      </p:sp>
      <p:sp>
        <p:nvSpPr>
          <p:cNvPr id="3" name="TextBox 2">
            <a:extLst>
              <a:ext uri="{FF2B5EF4-FFF2-40B4-BE49-F238E27FC236}">
                <a16:creationId xmlns:a16="http://schemas.microsoft.com/office/drawing/2014/main" id="{4182C7FC-1272-F598-D8CF-C20E490DDEF9}"/>
              </a:ext>
            </a:extLst>
          </p:cNvPr>
          <p:cNvSpPr txBox="1"/>
          <p:nvPr/>
        </p:nvSpPr>
        <p:spPr>
          <a:xfrm>
            <a:off x="776748" y="294967"/>
            <a:ext cx="10609007"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ARCHITECTURE DIAGRAM:</a:t>
            </a:r>
          </a:p>
        </p:txBody>
      </p:sp>
      <p:sp>
        <p:nvSpPr>
          <p:cNvPr id="4" name="Rectangle: Rounded Corners 3">
            <a:extLst>
              <a:ext uri="{FF2B5EF4-FFF2-40B4-BE49-F238E27FC236}">
                <a16:creationId xmlns:a16="http://schemas.microsoft.com/office/drawing/2014/main" id="{DF6BE205-70C1-02C5-45A0-AC6DF9DC9440}"/>
              </a:ext>
            </a:extLst>
          </p:cNvPr>
          <p:cNvSpPr/>
          <p:nvPr/>
        </p:nvSpPr>
        <p:spPr>
          <a:xfrm>
            <a:off x="5053780" y="1209368"/>
            <a:ext cx="2615381" cy="993058"/>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VISUALIZATIONS</a:t>
            </a:r>
            <a:r>
              <a:rPr lang="en-IN" dirty="0"/>
              <a:t> </a:t>
            </a:r>
          </a:p>
        </p:txBody>
      </p:sp>
      <p:sp>
        <p:nvSpPr>
          <p:cNvPr id="5" name="Rectangle: Rounded Corners 4">
            <a:extLst>
              <a:ext uri="{FF2B5EF4-FFF2-40B4-BE49-F238E27FC236}">
                <a16:creationId xmlns:a16="http://schemas.microsoft.com/office/drawing/2014/main" id="{DFF63DC5-978D-2EC6-E78A-A05C915B23BA}"/>
              </a:ext>
            </a:extLst>
          </p:cNvPr>
          <p:cNvSpPr/>
          <p:nvPr/>
        </p:nvSpPr>
        <p:spPr>
          <a:xfrm>
            <a:off x="8770372" y="1130710"/>
            <a:ext cx="2615381" cy="993058"/>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DEPLOYMENT / DELIVERABLES </a:t>
            </a:r>
          </a:p>
        </p:txBody>
      </p:sp>
      <p:sp>
        <p:nvSpPr>
          <p:cNvPr id="6" name="Rectangle: Rounded Corners 5">
            <a:extLst>
              <a:ext uri="{FF2B5EF4-FFF2-40B4-BE49-F238E27FC236}">
                <a16:creationId xmlns:a16="http://schemas.microsoft.com/office/drawing/2014/main" id="{2F255E1D-EFDC-43D6-F9A4-0C639588AE9F}"/>
              </a:ext>
            </a:extLst>
          </p:cNvPr>
          <p:cNvSpPr/>
          <p:nvPr/>
        </p:nvSpPr>
        <p:spPr>
          <a:xfrm>
            <a:off x="4925963" y="4731914"/>
            <a:ext cx="2615381" cy="993058"/>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FEATURE ENGINEERING / SELECTION</a:t>
            </a:r>
          </a:p>
        </p:txBody>
      </p:sp>
      <p:sp>
        <p:nvSpPr>
          <p:cNvPr id="7" name="Rectangle: Rounded Corners 6">
            <a:extLst>
              <a:ext uri="{FF2B5EF4-FFF2-40B4-BE49-F238E27FC236}">
                <a16:creationId xmlns:a16="http://schemas.microsoft.com/office/drawing/2014/main" id="{5FC456A5-9FFF-1132-6011-BAB577B1A72A}"/>
              </a:ext>
            </a:extLst>
          </p:cNvPr>
          <p:cNvSpPr/>
          <p:nvPr/>
        </p:nvSpPr>
        <p:spPr>
          <a:xfrm>
            <a:off x="4925964" y="2836606"/>
            <a:ext cx="2615381" cy="993058"/>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MODEL TRAINING</a:t>
            </a:r>
          </a:p>
        </p:txBody>
      </p:sp>
      <p:sp>
        <p:nvSpPr>
          <p:cNvPr id="8" name="Rectangle: Rounded Corners 7">
            <a:extLst>
              <a:ext uri="{FF2B5EF4-FFF2-40B4-BE49-F238E27FC236}">
                <a16:creationId xmlns:a16="http://schemas.microsoft.com/office/drawing/2014/main" id="{6C2BDF54-EE0A-8FD2-11BD-18894850AB5D}"/>
              </a:ext>
            </a:extLst>
          </p:cNvPr>
          <p:cNvSpPr/>
          <p:nvPr/>
        </p:nvSpPr>
        <p:spPr>
          <a:xfrm>
            <a:off x="806247" y="2836606"/>
            <a:ext cx="2615381" cy="993058"/>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DATA INGESTION </a:t>
            </a:r>
          </a:p>
        </p:txBody>
      </p:sp>
      <p:sp>
        <p:nvSpPr>
          <p:cNvPr id="9" name="Rectangle: Rounded Corners 8">
            <a:extLst>
              <a:ext uri="{FF2B5EF4-FFF2-40B4-BE49-F238E27FC236}">
                <a16:creationId xmlns:a16="http://schemas.microsoft.com/office/drawing/2014/main" id="{47D446F8-EC7B-4A8F-E756-C7FC772605B9}"/>
              </a:ext>
            </a:extLst>
          </p:cNvPr>
          <p:cNvSpPr/>
          <p:nvPr/>
        </p:nvSpPr>
        <p:spPr>
          <a:xfrm>
            <a:off x="776747" y="4734233"/>
            <a:ext cx="2615381" cy="993058"/>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DATA PREPROCESSING &amp; CLEANING</a:t>
            </a:r>
          </a:p>
        </p:txBody>
      </p:sp>
      <p:cxnSp>
        <p:nvCxnSpPr>
          <p:cNvPr id="12" name="Straight Arrow Connector 11">
            <a:extLst>
              <a:ext uri="{FF2B5EF4-FFF2-40B4-BE49-F238E27FC236}">
                <a16:creationId xmlns:a16="http://schemas.microsoft.com/office/drawing/2014/main" id="{B1D385F8-B049-7448-890D-AD6CB57A1042}"/>
              </a:ext>
            </a:extLst>
          </p:cNvPr>
          <p:cNvCxnSpPr/>
          <p:nvPr/>
        </p:nvCxnSpPr>
        <p:spPr>
          <a:xfrm>
            <a:off x="2113937" y="2271252"/>
            <a:ext cx="0" cy="5014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FA151728-B740-111D-709D-A760786F9432}"/>
              </a:ext>
            </a:extLst>
          </p:cNvPr>
          <p:cNvCxnSpPr/>
          <p:nvPr/>
        </p:nvCxnSpPr>
        <p:spPr>
          <a:xfrm>
            <a:off x="2113937" y="3991897"/>
            <a:ext cx="0" cy="6194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16C4FF7C-3FE3-F057-2573-7D7FA111EAB2}"/>
              </a:ext>
            </a:extLst>
          </p:cNvPr>
          <p:cNvCxnSpPr>
            <a:cxnSpLocks/>
          </p:cNvCxnSpPr>
          <p:nvPr/>
        </p:nvCxnSpPr>
        <p:spPr>
          <a:xfrm>
            <a:off x="3618271" y="5235957"/>
            <a:ext cx="106188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9797EB09-7C55-3E94-43BE-D48B436EE395}"/>
              </a:ext>
            </a:extLst>
          </p:cNvPr>
          <p:cNvCxnSpPr/>
          <p:nvPr/>
        </p:nvCxnSpPr>
        <p:spPr>
          <a:xfrm flipV="1">
            <a:off x="6233653" y="3991897"/>
            <a:ext cx="0" cy="6194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6B831357-30B0-7C57-D75D-E1072DEBF675}"/>
              </a:ext>
            </a:extLst>
          </p:cNvPr>
          <p:cNvCxnSpPr/>
          <p:nvPr/>
        </p:nvCxnSpPr>
        <p:spPr>
          <a:xfrm flipV="1">
            <a:off x="6233653" y="2271252"/>
            <a:ext cx="0" cy="4326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359F05D3-36FE-84B8-DA74-D9F621A13FE5}"/>
              </a:ext>
            </a:extLst>
          </p:cNvPr>
          <p:cNvCxnSpPr>
            <a:cxnSpLocks/>
          </p:cNvCxnSpPr>
          <p:nvPr/>
        </p:nvCxnSpPr>
        <p:spPr>
          <a:xfrm>
            <a:off x="7757652" y="1705897"/>
            <a:ext cx="84557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6560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AB2-78D2-D7D8-D187-3036058609E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Algorithms Used: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9326F4-7D02-D58A-99CF-AD8D9163C3D0}"/>
              </a:ext>
            </a:extLst>
          </p:cNvPr>
          <p:cNvSpPr>
            <a:spLocks noGrp="1"/>
          </p:cNvSpPr>
          <p:nvPr>
            <p:ph idx="1"/>
          </p:nvPr>
        </p:nvSpPr>
        <p:spPr/>
        <p:txBody>
          <a:bodyPr/>
          <a:lstStyle/>
          <a:p>
            <a:pPr marL="0" indent="0">
              <a:lnSpc>
                <a:spcPct val="100000"/>
              </a:lnSpc>
              <a:buNone/>
            </a:pPr>
            <a:r>
              <a:rPr lang="en-US" b="1" dirty="0">
                <a:latin typeface="Times New Roman" panose="02020603050405020304" pitchFamily="18" charset="0"/>
                <a:cs typeface="Times New Roman" panose="02020603050405020304" pitchFamily="18" charset="0"/>
              </a:rPr>
              <a:t>1. Linear Regression</a:t>
            </a:r>
          </a:p>
          <a:p>
            <a:pPr lvl="1">
              <a:lnSpc>
                <a:spcPct val="100000"/>
              </a:lnSpc>
            </a:pPr>
            <a:r>
              <a:rPr lang="en-US" sz="2800" dirty="0">
                <a:latin typeface="Times New Roman" panose="02020603050405020304" pitchFamily="18" charset="0"/>
                <a:cs typeface="Times New Roman" panose="02020603050405020304" pitchFamily="18" charset="0"/>
              </a:rPr>
              <a:t>Used for basic trend prediction</a:t>
            </a:r>
            <a:r>
              <a:rPr lang="en-US" dirty="0">
                <a:latin typeface="Times New Roman" panose="02020603050405020304" pitchFamily="18" charset="0"/>
                <a:cs typeface="Times New Roman" panose="02020603050405020304" pitchFamily="18" charset="0"/>
              </a:rPr>
              <a:t>.</a:t>
            </a:r>
          </a:p>
          <a:p>
            <a:pPr marL="0" indent="0">
              <a:lnSpc>
                <a:spcPct val="100000"/>
              </a:lnSpc>
              <a:buNone/>
            </a:pPr>
            <a:r>
              <a:rPr lang="en-US" b="1" dirty="0">
                <a:latin typeface="Times New Roman" panose="02020603050405020304" pitchFamily="18" charset="0"/>
                <a:cs typeface="Times New Roman" panose="02020603050405020304" pitchFamily="18" charset="0"/>
              </a:rPr>
              <a:t>2. Decision Tree Regression</a:t>
            </a:r>
          </a:p>
          <a:p>
            <a:pPr lvl="1">
              <a:lnSpc>
                <a:spcPct val="100000"/>
              </a:lnSpc>
            </a:pPr>
            <a:r>
              <a:rPr lang="en-US" sz="2800" dirty="0">
                <a:latin typeface="Times New Roman" panose="02020603050405020304" pitchFamily="18" charset="0"/>
                <a:cs typeface="Times New Roman" panose="02020603050405020304" pitchFamily="18" charset="0"/>
              </a:rPr>
              <a:t>Used for nonlinear data analysis.</a:t>
            </a:r>
          </a:p>
          <a:p>
            <a:pPr marL="0" indent="0">
              <a:lnSpc>
                <a:spcPct val="100000"/>
              </a:lnSpc>
              <a:buNone/>
            </a:pPr>
            <a:r>
              <a:rPr lang="en-US" b="1" dirty="0">
                <a:latin typeface="Times New Roman" panose="02020603050405020304" pitchFamily="18" charset="0"/>
                <a:cs typeface="Times New Roman" panose="02020603050405020304" pitchFamily="18" charset="0"/>
              </a:rPr>
              <a:t>3. Random Forest Regression</a:t>
            </a:r>
          </a:p>
          <a:p>
            <a:pPr lvl="1">
              <a:lnSpc>
                <a:spcPct val="100000"/>
              </a:lnSpc>
            </a:pPr>
            <a:r>
              <a:rPr lang="en-US" sz="2800" dirty="0">
                <a:latin typeface="Times New Roman" panose="02020603050405020304" pitchFamily="18" charset="0"/>
                <a:cs typeface="Times New Roman" panose="02020603050405020304" pitchFamily="18" charset="0"/>
              </a:rPr>
              <a:t>Used for higher accuracy and stable predictions</a:t>
            </a: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558349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A284-82F0-E867-8948-DE802348397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Tools and Technologies Used: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769B17-1E89-B6A7-8D0B-EE044D6F087B}"/>
              </a:ext>
            </a:extLst>
          </p:cNvPr>
          <p:cNvSpPr>
            <a:spLocks noGrp="1"/>
          </p:cNvSpPr>
          <p:nvPr>
            <p:ph idx="1"/>
          </p:nvPr>
        </p:nvSpPr>
        <p:spPr>
          <a:xfrm>
            <a:off x="838200" y="1484671"/>
            <a:ext cx="10515600" cy="4692292"/>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Programming Language</a:t>
            </a:r>
          </a:p>
          <a:p>
            <a:pPr lvl="1"/>
            <a:r>
              <a:rPr lang="en-IN" sz="2800"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a:t>
            </a:r>
          </a:p>
          <a:p>
            <a:pPr marL="0" indent="0">
              <a:buNone/>
            </a:pPr>
            <a:r>
              <a:rPr lang="en-IN" b="1" dirty="0">
                <a:latin typeface="Times New Roman" panose="02020603050405020304" pitchFamily="18" charset="0"/>
                <a:cs typeface="Times New Roman" panose="02020603050405020304" pitchFamily="18" charset="0"/>
              </a:rPr>
              <a:t>Libraries</a:t>
            </a:r>
          </a:p>
          <a:p>
            <a:pPr lvl="1"/>
            <a:r>
              <a:rPr lang="en-IN" sz="2800" dirty="0">
                <a:latin typeface="Times New Roman" panose="02020603050405020304" pitchFamily="18" charset="0"/>
                <a:cs typeface="Times New Roman" panose="02020603050405020304" pitchFamily="18" charset="0"/>
              </a:rPr>
              <a:t>Pandas </a:t>
            </a:r>
          </a:p>
          <a:p>
            <a:pPr lvl="1"/>
            <a:r>
              <a:rPr lang="en-IN" sz="2800" dirty="0">
                <a:latin typeface="Times New Roman" panose="02020603050405020304" pitchFamily="18" charset="0"/>
                <a:cs typeface="Times New Roman" panose="02020603050405020304" pitchFamily="18" charset="0"/>
              </a:rPr>
              <a:t>NumPy </a:t>
            </a:r>
          </a:p>
          <a:p>
            <a:pPr lvl="1"/>
            <a:r>
              <a:rPr lang="en-IN" sz="2800" dirty="0">
                <a:latin typeface="Times New Roman" panose="02020603050405020304" pitchFamily="18" charset="0"/>
                <a:cs typeface="Times New Roman" panose="02020603050405020304" pitchFamily="18" charset="0"/>
              </a:rPr>
              <a:t>Scikit-learn </a:t>
            </a:r>
          </a:p>
          <a:p>
            <a:pPr lvl="1"/>
            <a:r>
              <a:rPr lang="en-IN" sz="2800" dirty="0">
                <a:latin typeface="Times New Roman" panose="02020603050405020304" pitchFamily="18" charset="0"/>
                <a:cs typeface="Times New Roman" panose="02020603050405020304" pitchFamily="18" charset="0"/>
              </a:rPr>
              <a:t>Matplotlib </a:t>
            </a:r>
          </a:p>
          <a:p>
            <a:pPr lvl="1"/>
            <a:r>
              <a:rPr lang="en-IN" sz="2800" dirty="0">
                <a:latin typeface="Times New Roman" panose="02020603050405020304" pitchFamily="18" charset="0"/>
                <a:cs typeface="Times New Roman" panose="02020603050405020304" pitchFamily="18" charset="0"/>
              </a:rPr>
              <a:t>Seaborn </a:t>
            </a:r>
          </a:p>
          <a:p>
            <a:pPr marL="0" indent="0">
              <a:buNone/>
            </a:pPr>
            <a:r>
              <a:rPr lang="en-IN" b="1" dirty="0">
                <a:latin typeface="Times New Roman" panose="02020603050405020304" pitchFamily="18" charset="0"/>
                <a:cs typeface="Times New Roman" panose="02020603050405020304" pitchFamily="18" charset="0"/>
              </a:rPr>
              <a:t>Platform</a:t>
            </a:r>
          </a:p>
          <a:p>
            <a:pPr lvl="1"/>
            <a:r>
              <a:rPr lang="en-IN" sz="2800" dirty="0" err="1">
                <a:latin typeface="Times New Roman" panose="02020603050405020304" pitchFamily="18" charset="0"/>
                <a:cs typeface="Times New Roman" panose="02020603050405020304" pitchFamily="18" charset="0"/>
              </a:rPr>
              <a:t>Jupyter</a:t>
            </a:r>
            <a:r>
              <a:rPr lang="en-IN" sz="2800" dirty="0">
                <a:latin typeface="Times New Roman" panose="02020603050405020304" pitchFamily="18" charset="0"/>
                <a:cs typeface="Times New Roman" panose="02020603050405020304" pitchFamily="18" charset="0"/>
              </a:rPr>
              <a:t> Notebook / VS Code</a:t>
            </a:r>
          </a:p>
          <a:p>
            <a:endParaRPr lang="en-IN" dirty="0"/>
          </a:p>
        </p:txBody>
      </p:sp>
    </p:spTree>
    <p:extLst>
      <p:ext uri="{BB962C8B-B14F-4D97-AF65-F5344CB8AC3E}">
        <p14:creationId xmlns:p14="http://schemas.microsoft.com/office/powerpoint/2010/main" val="3829868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4E51C-3FFC-0E87-C889-CB37F5EE7F2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Novelty of the Project:</a:t>
            </a:r>
            <a:endParaRPr lang="en-IN" dirty="0"/>
          </a:p>
        </p:txBody>
      </p:sp>
      <p:sp>
        <p:nvSpPr>
          <p:cNvPr id="3" name="Content Placeholder 2">
            <a:extLst>
              <a:ext uri="{FF2B5EF4-FFF2-40B4-BE49-F238E27FC236}">
                <a16:creationId xmlns:a16="http://schemas.microsoft.com/office/drawing/2014/main" id="{0142ED05-43BC-81B0-5E36-DEE25B06066B}"/>
              </a:ext>
            </a:extLst>
          </p:cNvPr>
          <p:cNvSpPr>
            <a:spLocks noGrp="1"/>
          </p:cNvSpPr>
          <p:nvPr>
            <p:ph idx="1"/>
          </p:nvPr>
        </p:nvSpPr>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Combines climate prediction and population forecasting in one system </a:t>
            </a:r>
          </a:p>
          <a:p>
            <a:pPr>
              <a:lnSpc>
                <a:spcPct val="150000"/>
              </a:lnSpc>
            </a:pPr>
            <a:r>
              <a:rPr lang="en-US" dirty="0">
                <a:latin typeface="Times New Roman" panose="02020603050405020304" pitchFamily="18" charset="0"/>
                <a:cs typeface="Times New Roman" panose="02020603050405020304" pitchFamily="18" charset="0"/>
              </a:rPr>
              <a:t>Uses multiple machine learning algorithms for comparison </a:t>
            </a:r>
          </a:p>
          <a:p>
            <a:pPr>
              <a:lnSpc>
                <a:spcPct val="150000"/>
              </a:lnSpc>
            </a:pPr>
            <a:r>
              <a:rPr lang="en-US" dirty="0">
                <a:latin typeface="Times New Roman" panose="02020603050405020304" pitchFamily="18" charset="0"/>
                <a:cs typeface="Times New Roman" panose="02020603050405020304" pitchFamily="18" charset="0"/>
              </a:rPr>
              <a:t>Provides graphical trend analysis </a:t>
            </a:r>
          </a:p>
          <a:p>
            <a:pPr>
              <a:lnSpc>
                <a:spcPct val="150000"/>
              </a:lnSpc>
            </a:pPr>
            <a:r>
              <a:rPr lang="en-US" dirty="0">
                <a:latin typeface="Times New Roman" panose="02020603050405020304" pitchFamily="18" charset="0"/>
                <a:cs typeface="Times New Roman" panose="02020603050405020304" pitchFamily="18" charset="0"/>
              </a:rPr>
              <a:t>Supports environmental sustainability planning </a:t>
            </a:r>
          </a:p>
          <a:p>
            <a:pPr>
              <a:lnSpc>
                <a:spcPct val="150000"/>
              </a:lnSpc>
            </a:pPr>
            <a:r>
              <a:rPr lang="en-US" dirty="0">
                <a:latin typeface="Times New Roman" panose="02020603050405020304" pitchFamily="18" charset="0"/>
                <a:cs typeface="Times New Roman" panose="02020603050405020304" pitchFamily="18" charset="0"/>
              </a:rPr>
              <a:t>Higher prediction accuracy using Random Forest Regression</a:t>
            </a:r>
          </a:p>
          <a:p>
            <a:endParaRPr lang="en-IN" dirty="0"/>
          </a:p>
        </p:txBody>
      </p:sp>
    </p:spTree>
    <p:extLst>
      <p:ext uri="{BB962C8B-B14F-4D97-AF65-F5344CB8AC3E}">
        <p14:creationId xmlns:p14="http://schemas.microsoft.com/office/powerpoint/2010/main" val="3779772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EB368-169B-9A26-8397-81897214C208}"/>
              </a:ext>
            </a:extLst>
          </p:cNvPr>
          <p:cNvSpPr>
            <a:spLocks noGrp="1"/>
          </p:cNvSpPr>
          <p:nvPr>
            <p:ph type="title"/>
          </p:nvPr>
        </p:nvSpPr>
        <p:spPr>
          <a:xfrm>
            <a:off x="838200" y="365125"/>
            <a:ext cx="10515600" cy="913069"/>
          </a:xfrm>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2022DE8D-6216-B36D-8656-F3CD41366179}"/>
              </a:ext>
            </a:extLst>
          </p:cNvPr>
          <p:cNvSpPr>
            <a:spLocks noGrp="1"/>
          </p:cNvSpPr>
          <p:nvPr>
            <p:ph idx="1"/>
          </p:nvPr>
        </p:nvSpPr>
        <p:spPr>
          <a:xfrm>
            <a:off x="838200" y="1160206"/>
            <a:ext cx="10515600" cy="5486400"/>
          </a:xfrm>
        </p:spPr>
        <p:txBody>
          <a:bodyPr>
            <a:normAutofit lnSpcReduction="10000"/>
          </a:bodyPr>
          <a:lstStyle/>
          <a:p>
            <a:r>
              <a:rPr lang="en-US" dirty="0">
                <a:latin typeface="Times New Roman" panose="02020603050405020304" pitchFamily="18" charset="0"/>
                <a:cs typeface="Times New Roman" panose="02020603050405020304" pitchFamily="18" charset="0"/>
              </a:rPr>
              <a:t>The machine learning model was successfully developed to analyze and predict future climate and population trends using historical datasets. Different regression algorithms were trained and evaluated to forecast temperature rise, CO₂ emission growth, sea-level variation, and population increase.</a:t>
            </a:r>
          </a:p>
          <a:p>
            <a:r>
              <a:rPr lang="en-US" dirty="0">
                <a:latin typeface="Times New Roman" panose="02020603050405020304" pitchFamily="18" charset="0"/>
                <a:cs typeface="Times New Roman" panose="02020603050405020304" pitchFamily="18" charset="0"/>
              </a:rPr>
              <a:t>The dataset preprocessing stage included:</a:t>
            </a:r>
          </a:p>
          <a:p>
            <a:pPr lvl="1"/>
            <a:r>
              <a:rPr lang="en-US" sz="2800" dirty="0">
                <a:latin typeface="Times New Roman" panose="02020603050405020304" pitchFamily="18" charset="0"/>
                <a:cs typeface="Times New Roman" panose="02020603050405020304" pitchFamily="18" charset="0"/>
              </a:rPr>
              <a:t>Handling missing values </a:t>
            </a:r>
          </a:p>
          <a:p>
            <a:pPr lvl="1"/>
            <a:r>
              <a:rPr lang="en-US" sz="2800" dirty="0">
                <a:latin typeface="Times New Roman" panose="02020603050405020304" pitchFamily="18" charset="0"/>
                <a:cs typeface="Times New Roman" panose="02020603050405020304" pitchFamily="18" charset="0"/>
              </a:rPr>
              <a:t>Feature scaling </a:t>
            </a:r>
          </a:p>
          <a:p>
            <a:pPr lvl="1"/>
            <a:r>
              <a:rPr lang="en-US" sz="2800" dirty="0">
                <a:latin typeface="Times New Roman" panose="02020603050405020304" pitchFamily="18" charset="0"/>
                <a:cs typeface="Times New Roman" panose="02020603050405020304" pitchFamily="18" charset="0"/>
              </a:rPr>
              <a:t>Data normalization </a:t>
            </a:r>
          </a:p>
          <a:p>
            <a:pPr lvl="1"/>
            <a:r>
              <a:rPr lang="en-US" sz="2800" dirty="0">
                <a:latin typeface="Times New Roman" panose="02020603050405020304" pitchFamily="18" charset="0"/>
                <a:cs typeface="Times New Roman" panose="02020603050405020304" pitchFamily="18" charset="0"/>
              </a:rPr>
              <a:t>Splitting training and testing datasets </a:t>
            </a:r>
          </a:p>
          <a:p>
            <a:r>
              <a:rPr lang="en-US" dirty="0">
                <a:latin typeface="Times New Roman" panose="02020603050405020304" pitchFamily="18" charset="0"/>
                <a:cs typeface="Times New Roman" panose="02020603050405020304" pitchFamily="18" charset="0"/>
              </a:rPr>
              <a:t>After training multiple models, the </a:t>
            </a:r>
            <a:r>
              <a:rPr lang="en-US" b="1" dirty="0">
                <a:latin typeface="Times New Roman" panose="02020603050405020304" pitchFamily="18" charset="0"/>
                <a:cs typeface="Times New Roman" panose="02020603050405020304" pitchFamily="18" charset="0"/>
              </a:rPr>
              <a:t>Random Forest Regression</a:t>
            </a:r>
            <a:r>
              <a:rPr lang="en-US" dirty="0">
                <a:latin typeface="Times New Roman" panose="02020603050405020304" pitchFamily="18" charset="0"/>
                <a:cs typeface="Times New Roman" panose="02020603050405020304" pitchFamily="18" charset="0"/>
              </a:rPr>
              <a:t> model produced the best prediction accuracy compared to Linear Regression and Decision Tree algorithms.</a:t>
            </a:r>
          </a:p>
        </p:txBody>
      </p:sp>
    </p:spTree>
    <p:extLst>
      <p:ext uri="{BB962C8B-B14F-4D97-AF65-F5344CB8AC3E}">
        <p14:creationId xmlns:p14="http://schemas.microsoft.com/office/powerpoint/2010/main" val="2998581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35838-A87D-EEFE-5AC9-5AA2AED0801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OUTPUT AND ANALYSIS:</a:t>
            </a:r>
          </a:p>
        </p:txBody>
      </p:sp>
      <p:pic>
        <p:nvPicPr>
          <p:cNvPr id="5" name="Content Placeholder 4">
            <a:extLst>
              <a:ext uri="{FF2B5EF4-FFF2-40B4-BE49-F238E27FC236}">
                <a16:creationId xmlns:a16="http://schemas.microsoft.com/office/drawing/2014/main" id="{D71F1DEF-6CE3-F6ED-1E95-A68D9AFC8E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6923" y="1825625"/>
            <a:ext cx="5558153" cy="4351338"/>
          </a:xfrm>
          <a:prstGeom prst="rect">
            <a:avLst/>
          </a:prstGeom>
        </p:spPr>
      </p:pic>
    </p:spTree>
    <p:extLst>
      <p:ext uri="{BB962C8B-B14F-4D97-AF65-F5344CB8AC3E}">
        <p14:creationId xmlns:p14="http://schemas.microsoft.com/office/powerpoint/2010/main" val="3461236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72CEF1-562B-3AF0-CF75-A428CBB43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363" y="771154"/>
            <a:ext cx="7335274" cy="5315692"/>
          </a:xfrm>
          <a:prstGeom prst="rect">
            <a:avLst/>
          </a:prstGeom>
        </p:spPr>
      </p:pic>
    </p:spTree>
    <p:extLst>
      <p:ext uri="{BB962C8B-B14F-4D97-AF65-F5344CB8AC3E}">
        <p14:creationId xmlns:p14="http://schemas.microsoft.com/office/powerpoint/2010/main" val="2455545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539B19-4198-16D1-F41B-56B0BE9331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390" y="899759"/>
            <a:ext cx="6049219" cy="5058481"/>
          </a:xfrm>
          <a:prstGeom prst="rect">
            <a:avLst/>
          </a:prstGeom>
        </p:spPr>
      </p:pic>
    </p:spTree>
    <p:extLst>
      <p:ext uri="{BB962C8B-B14F-4D97-AF65-F5344CB8AC3E}">
        <p14:creationId xmlns:p14="http://schemas.microsoft.com/office/powerpoint/2010/main" val="4235891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6D33AF-160C-B547-4043-2EFE88FCDF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0258" y="809259"/>
            <a:ext cx="7411484" cy="5239481"/>
          </a:xfrm>
          <a:prstGeom prst="rect">
            <a:avLst/>
          </a:prstGeom>
        </p:spPr>
      </p:pic>
    </p:spTree>
    <p:extLst>
      <p:ext uri="{BB962C8B-B14F-4D97-AF65-F5344CB8AC3E}">
        <p14:creationId xmlns:p14="http://schemas.microsoft.com/office/powerpoint/2010/main" val="2066644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511CB-1C83-CA0C-2259-7DF7AE9EC789}"/>
              </a:ext>
            </a:extLst>
          </p:cNvPr>
          <p:cNvSpPr>
            <a:spLocks noGrp="1"/>
          </p:cNvSpPr>
          <p:nvPr>
            <p:ph type="title"/>
          </p:nvPr>
        </p:nvSpPr>
        <p:spPr>
          <a:xfrm>
            <a:off x="838200" y="365125"/>
            <a:ext cx="10515600" cy="863907"/>
          </a:xfrm>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F48ADDD-1797-94CF-1D19-E215F10396DF}"/>
              </a:ext>
            </a:extLst>
          </p:cNvPr>
          <p:cNvSpPr>
            <a:spLocks noGrp="1"/>
          </p:cNvSpPr>
          <p:nvPr>
            <p:ph idx="1"/>
          </p:nvPr>
        </p:nvSpPr>
        <p:spPr>
          <a:xfrm>
            <a:off x="838200" y="1150374"/>
            <a:ext cx="10515600" cy="5525729"/>
          </a:xfrm>
        </p:spPr>
        <p:txBody>
          <a:bodyPr>
            <a:noAutofit/>
          </a:bodyPr>
          <a:lstStyle/>
          <a:p>
            <a:pPr>
              <a:lnSpc>
                <a:spcPct val="120000"/>
              </a:lnSpc>
            </a:pPr>
            <a:r>
              <a:rPr lang="en-US" sz="2000" dirty="0">
                <a:latin typeface="Times New Roman" panose="02020603050405020304" pitchFamily="18" charset="0"/>
                <a:cs typeface="Times New Roman" panose="02020603050405020304" pitchFamily="18" charset="0"/>
              </a:rPr>
              <a:t>[5] “Current Progress in </a:t>
            </a:r>
            <a:r>
              <a:rPr lang="en-US" sz="2000" dirty="0" err="1">
                <a:latin typeface="Times New Roman" panose="02020603050405020304" pitchFamily="18" charset="0"/>
                <a:cs typeface="Times New Roman" panose="02020603050405020304" pitchFamily="18" charset="0"/>
              </a:rPr>
              <a:t>Subseasonal</a:t>
            </a:r>
            <a:r>
              <a:rPr lang="en-US" sz="2000" dirty="0">
                <a:latin typeface="Times New Roman" panose="02020603050405020304" pitchFamily="18" charset="0"/>
                <a:cs typeface="Times New Roman" panose="02020603050405020304" pitchFamily="18" charset="0"/>
              </a:rPr>
              <a:t>-to-Decadal Prediction Based on Machine Learning,” </a:t>
            </a:r>
            <a:r>
              <a:rPr lang="en-US" sz="2000" i="1" dirty="0">
                <a:latin typeface="Times New Roman" panose="02020603050405020304" pitchFamily="18" charset="0"/>
                <a:cs typeface="Times New Roman" panose="02020603050405020304" pitchFamily="18" charset="0"/>
              </a:rPr>
              <a:t>Applied Computing and Geosciences</a:t>
            </a:r>
            <a:r>
              <a:rPr lang="en-US" sz="2000" dirty="0">
                <a:latin typeface="Times New Roman" panose="02020603050405020304" pitchFamily="18" charset="0"/>
                <a:cs typeface="Times New Roman" panose="02020603050405020304" pitchFamily="18" charset="0"/>
              </a:rPr>
              <a:t>, 2024. [Online]. Available: </a:t>
            </a:r>
            <a:r>
              <a:rPr lang="en-US" sz="2000" dirty="0">
                <a:latin typeface="Times New Roman" panose="02020603050405020304" pitchFamily="18" charset="0"/>
                <a:cs typeface="Times New Roman" panose="02020603050405020304" pitchFamily="18" charset="0"/>
                <a:hlinkClick r:id="rId2"/>
              </a:rPr>
              <a:t>https://www.sciencedirect.com/science/article/pii/S259019742400048X</a:t>
            </a:r>
            <a:endParaRPr lang="en-US" sz="2000" dirty="0">
              <a:latin typeface="Times New Roman" panose="02020603050405020304" pitchFamily="18" charset="0"/>
              <a:cs typeface="Times New Roman" panose="02020603050405020304" pitchFamily="18" charset="0"/>
            </a:endParaRPr>
          </a:p>
          <a:p>
            <a:pPr>
              <a:lnSpc>
                <a:spcPct val="120000"/>
              </a:lnSpc>
            </a:pPr>
            <a:r>
              <a:rPr lang="en-US" sz="2000" dirty="0">
                <a:latin typeface="Times New Roman" panose="02020603050405020304" pitchFamily="18" charset="0"/>
                <a:cs typeface="Times New Roman" panose="02020603050405020304" pitchFamily="18" charset="0"/>
              </a:rPr>
              <a:t>[6] “Analysis, Characterization, Prediction, and Attribution of Extreme Atmospheric Events with Machine Learning and Deep Learning Techniques,” </a:t>
            </a:r>
            <a:r>
              <a:rPr lang="en-US" sz="2000" i="1" dirty="0">
                <a:latin typeface="Times New Roman" panose="02020603050405020304" pitchFamily="18" charset="0"/>
                <a:cs typeface="Times New Roman" panose="02020603050405020304" pitchFamily="18" charset="0"/>
              </a:rPr>
              <a:t>Theoretical and Applied Climatology</a:t>
            </a:r>
            <a:r>
              <a:rPr lang="en-US" sz="2000" dirty="0">
                <a:latin typeface="Times New Roman" panose="02020603050405020304" pitchFamily="18" charset="0"/>
                <a:cs typeface="Times New Roman" panose="02020603050405020304" pitchFamily="18" charset="0"/>
              </a:rPr>
              <a:t>, Springer, 2024. [Online]. Available: </a:t>
            </a:r>
            <a:r>
              <a:rPr lang="en-US" sz="2000" dirty="0">
                <a:latin typeface="Times New Roman" panose="02020603050405020304" pitchFamily="18" charset="0"/>
                <a:cs typeface="Times New Roman" panose="02020603050405020304" pitchFamily="18" charset="0"/>
                <a:hlinkClick r:id="rId3"/>
              </a:rPr>
              <a:t>https://link.springer.com/article/10.1007/s00704-023-04571-5</a:t>
            </a:r>
            <a:endParaRPr lang="en-US" sz="2000" dirty="0">
              <a:latin typeface="Times New Roman" panose="02020603050405020304" pitchFamily="18" charset="0"/>
              <a:cs typeface="Times New Roman" panose="02020603050405020304" pitchFamily="18" charset="0"/>
            </a:endParaRPr>
          </a:p>
          <a:p>
            <a:pPr>
              <a:lnSpc>
                <a:spcPct val="120000"/>
              </a:lnSpc>
            </a:pPr>
            <a:r>
              <a:rPr lang="en-US" sz="2000" dirty="0">
                <a:latin typeface="Times New Roman" panose="02020603050405020304" pitchFamily="18" charset="0"/>
                <a:cs typeface="Times New Roman" panose="02020603050405020304" pitchFamily="18" charset="0"/>
              </a:rPr>
              <a:t>[7] United Nations, “World Population Prospects 2024,” 2024. [Online]. Available: </a:t>
            </a:r>
            <a:r>
              <a:rPr lang="en-US" sz="2000" dirty="0">
                <a:latin typeface="Times New Roman" panose="02020603050405020304" pitchFamily="18" charset="0"/>
                <a:cs typeface="Times New Roman" panose="02020603050405020304" pitchFamily="18" charset="0"/>
                <a:hlinkClick r:id="rId4"/>
              </a:rPr>
              <a:t>https://www.un.org/development/desa/pd/world-population-prospects-2024</a:t>
            </a:r>
            <a:endParaRPr lang="en-US" sz="2000" dirty="0">
              <a:latin typeface="Times New Roman" panose="02020603050405020304" pitchFamily="18" charset="0"/>
              <a:cs typeface="Times New Roman" panose="02020603050405020304" pitchFamily="18" charset="0"/>
            </a:endParaRPr>
          </a:p>
          <a:p>
            <a:pPr>
              <a:lnSpc>
                <a:spcPct val="120000"/>
              </a:lnSpc>
            </a:pPr>
            <a:r>
              <a:rPr lang="en-US" sz="2000" dirty="0">
                <a:latin typeface="Times New Roman" panose="02020603050405020304" pitchFamily="18" charset="0"/>
                <a:cs typeface="Times New Roman" panose="02020603050405020304" pitchFamily="18" charset="0"/>
              </a:rPr>
              <a:t>[8] Scikit-learn Developers, “Scikit-learn: Machine Learning in Python,” [Online]. Available: </a:t>
            </a:r>
            <a:r>
              <a:rPr lang="en-US" sz="2000" dirty="0">
                <a:latin typeface="Times New Roman" panose="02020603050405020304" pitchFamily="18" charset="0"/>
                <a:cs typeface="Times New Roman" panose="02020603050405020304" pitchFamily="18" charset="0"/>
                <a:hlinkClick r:id="rId5"/>
              </a:rPr>
              <a:t>https://scikit-learn.org/stable/</a:t>
            </a:r>
            <a:endParaRPr lang="en-US" sz="2000" dirty="0">
              <a:latin typeface="Times New Roman" panose="02020603050405020304" pitchFamily="18" charset="0"/>
              <a:cs typeface="Times New Roman" panose="02020603050405020304" pitchFamily="18" charset="0"/>
            </a:endParaRPr>
          </a:p>
          <a:p>
            <a:pPr>
              <a:lnSpc>
                <a:spcPct val="120000"/>
              </a:lnSpc>
            </a:pPr>
            <a:r>
              <a:rPr lang="en-US" sz="2000" dirty="0">
                <a:latin typeface="Times New Roman" panose="02020603050405020304" pitchFamily="18" charset="0"/>
                <a:cs typeface="Times New Roman" panose="02020603050405020304" pitchFamily="18" charset="0"/>
              </a:rPr>
              <a:t>[9] Kaggle, “Climate Change Datasets,” [Online]. Available: </a:t>
            </a:r>
            <a:r>
              <a:rPr lang="en-US" sz="2000" dirty="0">
                <a:latin typeface="Times New Roman" panose="02020603050405020304" pitchFamily="18" charset="0"/>
                <a:cs typeface="Times New Roman" panose="02020603050405020304" pitchFamily="18" charset="0"/>
                <a:hlinkClick r:id="rId6"/>
              </a:rPr>
              <a:t>https://www.kaggle.com/datasets</a:t>
            </a:r>
            <a:endParaRPr lang="en-US" sz="2000" dirty="0">
              <a:latin typeface="Times New Roman" panose="02020603050405020304" pitchFamily="18" charset="0"/>
              <a:cs typeface="Times New Roman" panose="02020603050405020304" pitchFamily="18" charset="0"/>
            </a:endParaRPr>
          </a:p>
          <a:p>
            <a:pPr>
              <a:lnSpc>
                <a:spcPct val="120000"/>
              </a:lnSpc>
            </a:pPr>
            <a:r>
              <a:rPr lang="en-US" sz="2000" dirty="0">
                <a:latin typeface="Times New Roman" panose="02020603050405020304" pitchFamily="18" charset="0"/>
                <a:cs typeface="Times New Roman" panose="02020603050405020304" pitchFamily="18" charset="0"/>
              </a:rPr>
              <a:t>[10] Python Software Foundation, “Python Documentation,” [Online]. Available: </a:t>
            </a:r>
            <a:r>
              <a:rPr lang="en-US" sz="2000" dirty="0">
                <a:latin typeface="Times New Roman" panose="02020603050405020304" pitchFamily="18" charset="0"/>
                <a:cs typeface="Times New Roman" panose="02020603050405020304" pitchFamily="18" charset="0"/>
                <a:hlinkClick r:id="rId7"/>
              </a:rPr>
              <a:t>https://docs.python.org/3/</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5796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A99FCC-9904-14B3-5B3D-D5BE9EA07372}"/>
              </a:ext>
            </a:extLst>
          </p:cNvPr>
          <p:cNvSpPr txBox="1"/>
          <p:nvPr/>
        </p:nvSpPr>
        <p:spPr>
          <a:xfrm>
            <a:off x="2821857" y="2647024"/>
            <a:ext cx="7039897" cy="1200329"/>
          </a:xfrm>
          <a:prstGeom prst="rect">
            <a:avLst/>
          </a:prstGeom>
          <a:noFill/>
        </p:spPr>
        <p:txBody>
          <a:bodyPr wrap="square" rtlCol="0">
            <a:spAutoFit/>
          </a:bodyPr>
          <a:lstStyle/>
          <a:p>
            <a:r>
              <a:rPr lang="en-IN" sz="72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136799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446</TotalTime>
  <Words>1395</Words>
  <Application>Microsoft Office PowerPoint</Application>
  <PresentationFormat>Widescreen</PresentationFormat>
  <Paragraphs>171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Times New Roman</vt:lpstr>
      <vt:lpstr>Wingdings</vt:lpstr>
      <vt:lpstr>Office Theme</vt:lpstr>
      <vt:lpstr>PROJECT TITLE : PREDICTING EARTH’S FUTURE:CLIMATE &amp; POPULATION FORECASTING USING MACHINE LEARNING</vt:lpstr>
      <vt:lpstr>INTRODUCTION</vt:lpstr>
      <vt:lpstr>ABSTRACT</vt:lpstr>
      <vt:lpstr>PROBLEM STATEMENT:</vt:lpstr>
      <vt:lpstr>OBJECTIVES:</vt:lpstr>
      <vt:lpstr>Problem Statement:</vt:lpstr>
      <vt:lpstr>SIZE OF THE DATASET :</vt:lpstr>
      <vt:lpstr>WHY THIS ALGORITHM ?</vt:lpstr>
      <vt:lpstr>PREPROCESSING TECHNIQUES:</vt:lpstr>
      <vt:lpstr>PREPROCESSING TECHNIQUES:</vt:lpstr>
      <vt:lpstr>SCOPE</vt:lpstr>
      <vt:lpstr>LITERATURE SURVEY:</vt:lpstr>
      <vt:lpstr>PowerPoint Presentation</vt:lpstr>
      <vt:lpstr>Algorithms Used:</vt:lpstr>
      <vt:lpstr>Tools and Technologies Used:</vt:lpstr>
      <vt:lpstr>Novelty of the Project:</vt:lpstr>
      <vt:lpstr>RESULTS:</vt:lpstr>
      <vt:lpstr>OUTPUT AND ANALYSIS:</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Adhira</dc:creator>
  <cp:lastModifiedBy>Janani N</cp:lastModifiedBy>
  <cp:revision>4</cp:revision>
  <dcterms:created xsi:type="dcterms:W3CDTF">2025-07-23T16:00:50Z</dcterms:created>
  <dcterms:modified xsi:type="dcterms:W3CDTF">2026-05-07T16:01:13Z</dcterms:modified>
</cp:coreProperties>
</file>